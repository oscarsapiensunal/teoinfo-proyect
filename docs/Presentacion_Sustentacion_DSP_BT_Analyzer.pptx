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≈1.5 min. AQUÍ VA TU ABREBOCAS (no está en la lámina a propósito): entregas el celular, confirmas el modo avión, preguntas '¿cómo cree que me está escuchando?'. Deja que responda. Cuando diga Bluetooth, pasas a la siguiente lámina y arrancas con la banda de 2.4 GHz.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Enlaza con el truco: 'en efecto, Bluetooth. Todos lo usamos para audífonos y olvidamos que es un canal de comunicación completo'. Menciona la banda compartida y que RFCOMM se comporta como un puerto serial: nosotros construimos TODO lo demás encima.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Esta es la justificación. Frase clave: 'la teoría se pone a prueba donde el canal no pide permiso'. Aclara el doble valor: académico (medir lo que el curso enseña) y práctico (comunicación sin infraestructura).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Recorre las cinco cajas con la mano. Remata: 'si me preguntan dónde está la teoría de la información en la app, la respuesta es: en su estructura'.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≈1.5 min. Camina las tres tarjetas de izquierda a derecha: muestreo, cuantización, compresión. OJO: esto se detectó por cálculo al escribir el código, NO se escuchó fallar en una prueba. Si preguntan 'como lo notaron', la respuesta honesta es: revisando la aritmética antes de que sonara 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≈1.5 min. Aquí está el corazón del diseño v2. Si alguien pregunta por qué 'frames' y no ráfagas, sonríe: esa historia viene en las próximas tres láminas.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Lección: cuando el rastro no está en tu código, el log del sistema da la causa exacta. Y a veces la librería ES el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≈1.5 min. El número 11 s es real, medido. Explica productor/consumidor con calma: es la lección de sistemas más importante del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El colapso por congestión del ARQ es el mismo fenómeno que motivó el control de congestión de TCP — decirlo así conecta con redes y suena bien.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≈1.5 min. Esta lámina es la columna metodológica: cada retiro tiene diagnóstico y medición detrás. A los profesores les gusta más esto que diez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≈1.5 min. La moraleja: el eco no se resolvió con más matemática sino usando la infraestructura correcta del sistema. Las radios lo evitan por diseño (half-dúplex); las llamadas lo cancelan en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Si hay tablero cerca y sobra tiempo en preguntas, el ejemplo de Hamming a mano (datos 1011) está en la guía de sustentación, sección 7.4.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Pregunta trampa esperada: '¿su C no contradice el throughput real?'. Respuesta: C es el límite de un canal ideal; la brecha mide el costo de la implementación práctica.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 min. GUION: (1) conversar 20 s sin optimizar, señalar el eco y el VAD en el log. (2) Activar AEC en plena frase: el eco muere — pausa dramática. (3) 'Simular canal degradado': estática y clics; encender Filtro (baja el silbido), FEC (el log cuenta bits corregidos), PLC. (4) Recorrer métricas: RSSI real/simulado, pérdida 0% y por qué, RTT, H(X) subiendo con el ruido. Si el BT falla: capturas de respaldo.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Cuatro números, cuatro historias ya contadas. No leas las tarjetas: señálalas.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≈1 min. Cierre con calma. La frase 5 es la que resume el método del equipo.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Total ≈ 15 min con demo incluida. Respira: el banco de 30 preguntas con respuesta está en la guía de sustentación.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7863840" y="1280160"/>
            <a:ext cx="4206240" cy="4206240"/>
          </a:xfrm>
          <a:prstGeom prst="ellipse">
            <a:avLst/>
          </a:prstGeom>
          <a:noFill/>
          <a:ln w="444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rb2"/>
          <p:cNvSpPr/>
          <p:nvPr/>
        </p:nvSpPr>
        <p:spPr>
          <a:xfrm>
            <a:off x="8869680" y="2286000"/>
            <a:ext cx="2194560" cy="2194560"/>
          </a:xfrm>
          <a:prstGeom prst="ellipse">
            <a:avLst/>
          </a:prstGeom>
          <a:solidFill>
            <a:srgbClr val="1B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icker"/>
          <p:cNvSpPr txBox="1"/>
          <p:nvPr/>
        </p:nvSpPr>
        <p:spPr>
          <a:xfrm>
            <a:off x="640080" y="18288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8A6FF"/>
                </a:solidFill>
                <a:latin typeface="Segoe UI"/>
              </a:rPr>
              <a:t>TEORÍA DE LA INFORMACIÓN Y SISTEMAS DE COMUNICACIÓN · UNAL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640080" y="2240280"/>
            <a:ext cx="78638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E6EDF3"/>
                </a:solidFill>
                <a:latin typeface="Segoe UI"/>
              </a:rPr>
              <a:t>DSP · BT Analyzer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40080" y="3429000"/>
            <a:ext cx="73152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8B949E"/>
                </a:solidFill>
                <a:latin typeface="Segoe UI"/>
              </a:rPr>
              <a:t>Una radio entre dos celulares. Sin internet. Sin infraestructura.</a:t>
            </a:r>
          </a:p>
        </p:txBody>
      </p:sp>
      <p:sp>
        <p:nvSpPr>
          <p:cNvPr id="8" name="meta"/>
          <p:cNvSpPr txBox="1"/>
          <p:nvPr/>
        </p:nvSpPr>
        <p:spPr>
          <a:xfrm>
            <a:off x="640080" y="5120640"/>
            <a:ext cx="7315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Integrantes: [nombres]   ·   Grupo [ ]   ·   Julio de 2026</a:t>
            </a:r>
          </a:p>
        </p:txBody>
      </p:sp>
      <p:sp>
        <p:nvSpPr>
          <p:cNvPr id="9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-2011680" y="-2194560"/>
            <a:ext cx="7315200" cy="7315200"/>
          </a:xfrm>
          <a:prstGeom prst="ellipse">
            <a:avLst/>
          </a:prstGeom>
          <a:noFill/>
          <a:ln w="444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rb2"/>
          <p:cNvSpPr/>
          <p:nvPr/>
        </p:nvSpPr>
        <p:spPr>
          <a:xfrm>
            <a:off x="365760" y="182880"/>
            <a:ext cx="2377440" cy="2377440"/>
          </a:xfrm>
          <a:prstGeom prst="ellipse">
            <a:avLst/>
          </a:prstGeom>
          <a:solidFill>
            <a:srgbClr val="1B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EL CANAL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6EDF3"/>
                </a:solidFill>
                <a:latin typeface="Segoe UI"/>
              </a:rPr>
              <a:t>Bluetooth: la tecnología que damos por sentada</a:t>
            </a:r>
          </a:p>
        </p:txBody>
      </p:sp>
      <p:sp>
        <p:nvSpPr>
          <p:cNvPr id="7" name="big"/>
          <p:cNvSpPr txBox="1"/>
          <p:nvPr/>
        </p:nvSpPr>
        <p:spPr>
          <a:xfrm>
            <a:off x="640080" y="2103120"/>
            <a:ext cx="5943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8800" b="1">
                <a:solidFill>
                  <a:srgbClr val="58A6FF"/>
                </a:solidFill>
                <a:latin typeface="Segoe UI Black"/>
              </a:rPr>
              <a:t>2.4 GHz</a:t>
            </a:r>
          </a:p>
        </p:txBody>
      </p:sp>
      <p:sp>
        <p:nvSpPr>
          <p:cNvPr id="8" name="body"/>
          <p:cNvSpPr txBox="1"/>
          <p:nvPr/>
        </p:nvSpPr>
        <p:spPr>
          <a:xfrm>
            <a:off x="6675120" y="2286000"/>
            <a:ext cx="484632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La misma banda del Wi-Fi y del microondas: interferencia real, desvanecimiento real.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6EDF3"/>
                </a:solidFill>
                <a:latin typeface="Segoe UI"/>
              </a:rPr>
              <a:t>RFCOMM: un cable serial invisible entre dos teléfonos — bytes en orden, ida y vuelta.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B949E"/>
                </a:solidFill>
                <a:latin typeface="Segoe UI"/>
              </a:rPr>
              <a:t>El chip se defiende solo: salta de frecuencia 1 600 veces por segundo (AFH).</a:t>
            </a:r>
          </a:p>
        </p:txBody>
      </p:sp>
      <p:sp>
        <p:nvSpPr>
          <p:cNvPr id="9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9326880" y="4206240"/>
            <a:ext cx="3108960" cy="3108960"/>
          </a:xfrm>
          <a:prstGeom prst="ellipse">
            <a:avLst/>
          </a:prstGeom>
          <a:noFill/>
          <a:ln w="4445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rb2"/>
          <p:cNvSpPr/>
          <p:nvPr/>
        </p:nvSpPr>
        <p:spPr>
          <a:xfrm>
            <a:off x="10241280" y="5120640"/>
            <a:ext cx="1280160" cy="1280160"/>
          </a:xfrm>
          <a:prstGeom prst="ellipse">
            <a:avLst/>
          </a:prstGeom>
          <a:solidFill>
            <a:srgbClr val="1B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¿POR QUÉ EXISTE ESTA APP?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6EDF3"/>
                </a:solidFill>
                <a:latin typeface="Segoe UI"/>
              </a:rPr>
              <a:t>Los cursos simulan el canal ruidoso.
Nosotros lo medimos.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40080" y="3017520"/>
            <a:ext cx="8229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E6EDF3"/>
                </a:solidFill>
                <a:latin typeface="Segoe UI"/>
              </a:rPr>
              <a:t>El ruido no se genera con una función de MATLAB: se recoge del aire.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E6EDF3"/>
                </a:solidFill>
                <a:latin typeface="Segoe UI"/>
              </a:rPr>
              <a:t>Dos celulares cualquiera se convierten en un laboratorio de comunicaciones portátil,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58A6FF"/>
                </a:solidFill>
                <a:latin typeface="Segoe UI"/>
              </a:rPr>
              <a:t>que transmite voz de verdad y grafica RSSI, pérdida, latencia, entropía y capacidad en vivo.</a:t>
            </a:r>
          </a:p>
        </p:txBody>
      </p:sp>
      <p:sp>
        <p:nvSpPr>
          <p:cNvPr id="8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5029200" y="4846320"/>
            <a:ext cx="2011680" cy="2011680"/>
          </a:xfrm>
          <a:prstGeom prst="ellipse">
            <a:avLst/>
          </a:prstGeom>
          <a:noFill/>
          <a:ln w="444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LA IDEA GRANDE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6EDF3"/>
                </a:solidFill>
                <a:latin typeface="Segoe UI"/>
              </a:rPr>
              <a:t>El diagrama de Shannon, vuelto aplicación</a:t>
            </a:r>
          </a:p>
        </p:txBody>
      </p:sp>
      <p:sp>
        <p:nvSpPr>
          <p:cNvPr id="6" name="box1"/>
          <p:cNvSpPr/>
          <p:nvPr/>
        </p:nvSpPr>
        <p:spPr>
          <a:xfrm>
            <a:off x="502920" y="2331720"/>
            <a:ext cx="2084831" cy="13716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58A6FF"/>
                </a:solidFill>
                <a:latin typeface="Segoe UI"/>
              </a:rPr>
              <a:t>FUENTE</a:t>
            </a:r>
          </a:p>
          <a:p>
            <a:pPr algn="ctr"/>
            <a:r>
              <a:rPr sz="1200">
                <a:solidFill>
                  <a:srgbClr val="E6EDF3"/>
                </a:solidFill>
                <a:latin typeface="Segoe UI"/>
              </a:rPr>
              <a:t>tu voz</a:t>
            </a:r>
          </a:p>
        </p:txBody>
      </p:sp>
      <p:sp>
        <p:nvSpPr>
          <p:cNvPr id="7" name="box2"/>
          <p:cNvSpPr/>
          <p:nvPr/>
        </p:nvSpPr>
        <p:spPr>
          <a:xfrm>
            <a:off x="2807208" y="2331720"/>
            <a:ext cx="2084831" cy="13716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FB950"/>
                </a:solidFill>
                <a:latin typeface="Segoe UI"/>
              </a:rPr>
              <a:t>TRANSMISOR</a:t>
            </a:r>
          </a:p>
          <a:p>
            <a:pPr algn="ctr"/>
            <a:r>
              <a:rPr sz="1200">
                <a:solidFill>
                  <a:srgbClr val="E6EDF3"/>
                </a:solidFill>
                <a:latin typeface="Segoe UI"/>
              </a:rPr>
              <a:t>8 kHz · μ-law · SEQ</a:t>
            </a:r>
          </a:p>
        </p:txBody>
      </p:sp>
      <p:sp>
        <p:nvSpPr>
          <p:cNvPr id="8" name="box3"/>
          <p:cNvSpPr/>
          <p:nvPr/>
        </p:nvSpPr>
        <p:spPr>
          <a:xfrm>
            <a:off x="5111496" y="2331720"/>
            <a:ext cx="2084831" cy="13716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D29922"/>
                </a:solidFill>
                <a:latin typeface="Segoe UI"/>
              </a:rPr>
              <a:t>CANAL</a:t>
            </a:r>
          </a:p>
          <a:p>
            <a:pPr algn="ctr"/>
            <a:r>
              <a:rPr sz="1200">
                <a:solidFill>
                  <a:srgbClr val="E6EDF3"/>
                </a:solidFill>
                <a:latin typeface="Segoe UI"/>
              </a:rPr>
              <a:t>Bluetooth 2.4 GHz</a:t>
            </a:r>
          </a:p>
        </p:txBody>
      </p:sp>
      <p:sp>
        <p:nvSpPr>
          <p:cNvPr id="9" name="box4"/>
          <p:cNvSpPr/>
          <p:nvPr/>
        </p:nvSpPr>
        <p:spPr>
          <a:xfrm>
            <a:off x="7415784" y="2331720"/>
            <a:ext cx="2084831" cy="13716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FB950"/>
                </a:solidFill>
                <a:latin typeface="Segoe UI"/>
              </a:rPr>
              <a:t>RECEPTOR</a:t>
            </a:r>
          </a:p>
          <a:p>
            <a:pPr algn="ctr"/>
            <a:r>
              <a:rPr sz="1200">
                <a:solidFill>
                  <a:srgbClr val="E6EDF3"/>
                </a:solidFill>
                <a:latin typeface="Segoe UI"/>
              </a:rPr>
              <a:t>PLC · filtros · Hamming</a:t>
            </a:r>
          </a:p>
        </p:txBody>
      </p:sp>
      <p:sp>
        <p:nvSpPr>
          <p:cNvPr id="10" name="box5"/>
          <p:cNvSpPr/>
          <p:nvPr/>
        </p:nvSpPr>
        <p:spPr>
          <a:xfrm>
            <a:off x="9720072" y="2331720"/>
            <a:ext cx="2084831" cy="137160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58A6FF"/>
                </a:solidFill>
                <a:latin typeface="Segoe UI"/>
              </a:rPr>
              <a:t>DESTINO</a:t>
            </a:r>
          </a:p>
          <a:p>
            <a:pPr algn="ctr"/>
            <a:r>
              <a:rPr sz="1200">
                <a:solidFill>
                  <a:srgbClr val="E6EDF3"/>
                </a:solidFill>
                <a:latin typeface="Segoe UI"/>
              </a:rPr>
              <a:t>el oído del otro</a:t>
            </a:r>
          </a:p>
        </p:txBody>
      </p:sp>
      <p:sp>
        <p:nvSpPr>
          <p:cNvPr id="11" name="body"/>
          <p:cNvSpPr txBox="1"/>
          <p:nvPr/>
        </p:nvSpPr>
        <p:spPr>
          <a:xfrm>
            <a:off x="640080" y="4206240"/>
            <a:ext cx="10881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B949E"/>
                </a:solidFill>
                <a:latin typeface="Segoe UI"/>
              </a:rPr>
              <a:t>La fuente se comprime. El canal se protege. Esa separación —de Shannon, 1948— es literalmente la arquitectura del código.</a:t>
            </a:r>
          </a:p>
        </p:txBody>
      </p:sp>
      <p:sp>
        <p:nvSpPr>
          <p:cNvPr id="12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-1463040" y="4023360"/>
            <a:ext cx="4023360" cy="4023360"/>
          </a:xfrm>
          <a:prstGeom prst="ellipse">
            <a:avLst/>
          </a:prstGeom>
          <a:noFill/>
          <a:ln w="444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CODIFICACIÓN DE FUENTE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6EDF3"/>
                </a:solidFill>
                <a:latin typeface="Segoe UI"/>
              </a:rPr>
              <a:t>La voz, convertida en números</a:t>
            </a:r>
          </a:p>
        </p:txBody>
      </p:sp>
      <p:sp>
        <p:nvSpPr>
          <p:cNvPr id="6" name="cardA"/>
          <p:cNvSpPr/>
          <p:nvPr/>
        </p:nvSpPr>
        <p:spPr>
          <a:xfrm>
            <a:off x="640080" y="2194560"/>
            <a:ext cx="3566160" cy="228600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58A6FF"/>
                </a:solidFill>
                <a:latin typeface="Segoe UI"/>
              </a:rPr>
              <a:t>8 000 Hz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Nyquist: la voz telefónica vive entre 300 y 3 400 Hz.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Muestrear al doble basta. Igual que la telefonía clásica.</a:t>
            </a:r>
          </a:p>
        </p:txBody>
      </p:sp>
      <p:sp>
        <p:nvSpPr>
          <p:cNvPr id="7" name="cardB"/>
          <p:cNvSpPr/>
          <p:nvPr/>
        </p:nvSpPr>
        <p:spPr>
          <a:xfrm>
            <a:off x="4343400" y="2194560"/>
            <a:ext cx="3566160" cy="228600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3FB950"/>
                </a:solidFill>
                <a:latin typeface="Segoe UI"/>
              </a:rPr>
              <a:t>16 bits · PCM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Cada muestra, un entero con signo.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16 000 bytes por segundo, crudos.</a:t>
            </a:r>
          </a:p>
        </p:txBody>
      </p:sp>
      <p:sp>
        <p:nvSpPr>
          <p:cNvPr id="8" name="cardC"/>
          <p:cNvSpPr/>
          <p:nvPr/>
        </p:nvSpPr>
        <p:spPr>
          <a:xfrm>
            <a:off x="8046720" y="2194560"/>
            <a:ext cx="3566160" cy="228600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D29922"/>
                </a:solidFill>
                <a:latin typeface="Segoe UI"/>
              </a:rPr>
              <a:t>→ 8 bits · μ-law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El oído es logarítmico: precisión fina cerca del cero, gruesa arriba.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G.711, el códec de la telefonía. Mitad de datos.</a:t>
            </a:r>
          </a:p>
        </p:txBody>
      </p:sp>
      <p:sp>
        <p:nvSpPr>
          <p:cNvPr id="9" name="body"/>
          <p:cNvSpPr txBox="1"/>
          <p:nvPr/>
        </p:nvSpPr>
        <p:spPr>
          <a:xfrm>
            <a:off x="640080" y="480060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Detalle que delata el dominio del formato: el silencio en μ-law es 0xFF, no 0x00 — ese decodifica a casi fondo de escala.</a:t>
            </a:r>
          </a:p>
        </p:txBody>
      </p:sp>
      <p:sp>
        <p:nvSpPr>
          <p:cNvPr id="10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9692640" y="-1645920"/>
            <a:ext cx="3840480" cy="3840480"/>
          </a:xfrm>
          <a:prstGeom prst="ellipse">
            <a:avLst/>
          </a:prstGeom>
          <a:noFill/>
          <a:ln w="444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NUESTRO PROTOCOLO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6EDF3"/>
                </a:solidFill>
                <a:latin typeface="Segoe UI"/>
              </a:rPr>
              <a:t>Frames de 128 ms, tipo radio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640080" y="2148840"/>
            <a:ext cx="104241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1 frame = 1 paquete de 1 024 bytes: 2 de sincronización + 2 de secuencia (SEQ) + 1 020 de voz.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El SEQ delata pérdidas: llega el 41, llega el 44… faltaron dos. Sin preguntar nada.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3FB950"/>
                </a:solidFill>
                <a:latin typeface="Segoe UI"/>
              </a:rPr>
              <a:t>VAD: si el frame no tiene voz (energía RMS bajo umbral), no viaja. El silencio no gasta canal.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58A6FF"/>
                </a:solidFill>
                <a:latin typeface="Segoe UI"/>
              </a:rPr>
              <a:t>PING/PONG cada 2 s: latencia de ida y vuelta medida con UN solo reloj — los relojes de dos teléfonos jamás coinciden.</a:t>
            </a:r>
          </a:p>
        </p:txBody>
      </p:sp>
      <p:sp>
        <p:nvSpPr>
          <p:cNvPr id="7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4937760" y="1737360"/>
            <a:ext cx="2377440" cy="2377440"/>
          </a:xfrm>
          <a:prstGeom prst="ellipse">
            <a:avLst/>
          </a:prstGeom>
          <a:noFill/>
          <a:ln w="444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85149"/>
                </a:solidFill>
                <a:latin typeface="Segoe UI"/>
              </a:rPr>
              <a:t>HISTORIA · VERSIÓN 1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6EDF3"/>
                </a:solidFill>
                <a:latin typeface="Segoe UI"/>
              </a:rPr>
              <a:t>El día que la app moría sola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640080" y="2377440"/>
            <a:ext cx="104241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Cierre repentino, sin una sola excepción en nuestro código.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Con adb logcat leímos el volcado nativo: el fallo estaba DENTRO de la librería de audio de Flutter (bug público #508), en tres teléfonos distintos.</a:t>
            </a:r>
          </a:p>
        </p:txBody>
      </p:sp>
      <p:sp>
        <p:nvSpPr>
          <p:cNvPr id="7" name="accent"/>
          <p:cNvSpPr txBox="1"/>
          <p:nvPr/>
        </p:nvSpPr>
        <p:spPr>
          <a:xfrm>
            <a:off x="640080" y="466344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3FB950"/>
                </a:solidFill>
                <a:latin typeface="Segoe UI"/>
              </a:rPr>
              <a:t>Solución: escribir nuestro propio reproductor — AudioTrack, en Kotlin, un solo hilo escritor.</a:t>
            </a:r>
          </a:p>
        </p:txBody>
      </p:sp>
      <p:sp>
        <p:nvSpPr>
          <p:cNvPr id="8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8138160" y="1920240"/>
            <a:ext cx="3291840" cy="3291840"/>
          </a:xfrm>
          <a:prstGeom prst="ellipse">
            <a:avLst/>
          </a:prstGeom>
          <a:noFill/>
          <a:ln w="444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85149"/>
                </a:solidFill>
                <a:latin typeface="Segoe UI"/>
              </a:rPr>
              <a:t>HISTORIA · VERSIÓN 2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6EDF3"/>
                </a:solidFill>
                <a:latin typeface="Segoe UI"/>
              </a:rPr>
              <a:t>La latencia que solo sabía crecer</a:t>
            </a:r>
          </a:p>
        </p:txBody>
      </p:sp>
      <p:sp>
        <p:nvSpPr>
          <p:cNvPr id="6" name="big"/>
          <p:cNvSpPr txBox="1"/>
          <p:nvPr/>
        </p:nvSpPr>
        <p:spPr>
          <a:xfrm>
            <a:off x="8183879" y="2514600"/>
            <a:ext cx="3200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7600" b="1">
                <a:solidFill>
                  <a:srgbClr val="F85149"/>
                </a:solidFill>
                <a:latin typeface="Segoe UI Black"/>
              </a:rPr>
              <a:t>11 s</a:t>
            </a:r>
          </a:p>
        </p:txBody>
      </p:sp>
      <p:sp>
        <p:nvSpPr>
          <p:cNvPr id="7" name="body"/>
          <p:cNvSpPr txBox="1"/>
          <p:nvPr/>
        </p:nvSpPr>
        <p:spPr>
          <a:xfrm>
            <a:off x="640080" y="2377440"/>
            <a:ext cx="6949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Reproducir 2 segundos de audio costaba 2.2 segundos.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Si el consumidor es más lento que el productor, la cola crece. Siempre. Sin importar cuánto ancho de banda ahorres.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3FB950"/>
                </a:solidFill>
                <a:latin typeface="Segoe UI"/>
              </a:rPr>
              <a:t>Rediseño total: streaming nativo + tope con descarte en cada etapa.</a:t>
            </a:r>
          </a:p>
        </p:txBody>
      </p:sp>
      <p:sp>
        <p:nvSpPr>
          <p:cNvPr id="8" name="accent"/>
          <p:cNvSpPr txBox="1"/>
          <p:nvPr/>
        </p:nvSpPr>
        <p:spPr>
          <a:xfrm>
            <a:off x="640080" y="52120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D29922"/>
                </a:solidFill>
                <a:latin typeface="Segoe UI"/>
              </a:rPr>
              <a:t>La ley del tiempo real: fresco e incompleto vale más que completo y atrasado.</a:t>
            </a:r>
          </a:p>
        </p:txBody>
      </p:sp>
      <p:sp>
        <p:nvSpPr>
          <p:cNvPr id="9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548640" y="1828800"/>
            <a:ext cx="2743200" cy="2743200"/>
          </a:xfrm>
          <a:prstGeom prst="ellipse">
            <a:avLst/>
          </a:prstGeom>
          <a:noFill/>
          <a:ln w="444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85149"/>
                </a:solidFill>
                <a:latin typeface="Segoe UI"/>
              </a:rPr>
              <a:t>HISTORIA · VERSIÓN 3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6EDF3"/>
                </a:solidFill>
                <a:latin typeface="Segoe UI"/>
              </a:rPr>
              <a:t>Transmitíamos silencio. Todo el tiempo.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640080" y="2377440"/>
            <a:ext cx="1042416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Sin detector de voz, cada micrófono enviaba su tasa completa 24/7 aunque nadie hablara.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La pista que lo destapó: todo se recuperaba al silenciar el micrófono.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Y de paso: el ARQ reenviaba sobre un canal ya saturado — más reenvíos, más pérdida, más reenvíos.</a:t>
            </a:r>
          </a:p>
        </p:txBody>
      </p:sp>
      <p:sp>
        <p:nvSpPr>
          <p:cNvPr id="7" name="accent"/>
          <p:cNvSpPr txBox="1"/>
          <p:nvPr/>
        </p:nvSpPr>
        <p:spPr>
          <a:xfrm>
            <a:off x="640080" y="484632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3FB950"/>
                </a:solidFill>
                <a:latin typeface="Segoe UI"/>
              </a:rPr>
              <a:t>Salida: VAD (el silencio no viaja) + backpressure + 4× menos datos (8 kHz · μ-law).</a:t>
            </a:r>
          </a:p>
        </p:txBody>
      </p:sp>
      <p:sp>
        <p:nvSpPr>
          <p:cNvPr id="8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5074920" y="320040"/>
            <a:ext cx="2011680" cy="2011680"/>
          </a:xfrm>
          <a:prstGeom prst="ellipse">
            <a:avLst/>
          </a:prstGeom>
          <a:noFill/>
          <a:ln w="44450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D29922"/>
                </a:solidFill>
                <a:latin typeface="Segoe UI"/>
              </a:rPr>
              <a:t>MÉTODO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6012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6EDF3"/>
                </a:solidFill>
                <a:latin typeface="Segoe UI"/>
              </a:rPr>
              <a:t>Tres técnicas retiradas — con evidencia</a:t>
            </a:r>
          </a:p>
        </p:txBody>
      </p:sp>
      <p:sp>
        <p:nvSpPr>
          <p:cNvPr id="6" name="cardA"/>
          <p:cNvSpPr/>
          <p:nvPr/>
        </p:nvSpPr>
        <p:spPr>
          <a:xfrm>
            <a:off x="640080" y="2286000"/>
            <a:ext cx="3566160" cy="265176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F85149"/>
                </a:solidFill>
                <a:latin typeface="Segoe UI"/>
              </a:rPr>
              <a:t>NLMS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El filtro cubría 16 ms de historia.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El retardo real: 300–600 ms, variable.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No cancelaba; ensuciaba la voz.</a:t>
            </a:r>
          </a:p>
        </p:txBody>
      </p:sp>
      <p:sp>
        <p:nvSpPr>
          <p:cNvPr id="7" name="cardB"/>
          <p:cNvSpPr/>
          <p:nvPr/>
        </p:nvSpPr>
        <p:spPr>
          <a:xfrm>
            <a:off x="4343400" y="2286000"/>
            <a:ext cx="3566160" cy="265176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F85149"/>
                </a:solidFill>
                <a:latin typeface="Segoe UI"/>
              </a:rPr>
              <a:t>ARQ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Reenviar sobre canal saturado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= espiral de congestión.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La voz en vivo usa FEC + PLC. Nosotros también, ahora.</a:t>
            </a:r>
          </a:p>
        </p:txBody>
      </p:sp>
      <p:sp>
        <p:nvSpPr>
          <p:cNvPr id="8" name="cardC"/>
          <p:cNvSpPr/>
          <p:nvPr/>
        </p:nvSpPr>
        <p:spPr>
          <a:xfrm>
            <a:off x="8046720" y="2286000"/>
            <a:ext cx="3566160" cy="265176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F85149"/>
                </a:solidFill>
                <a:latin typeface="Segoe UI"/>
              </a:rPr>
              <a:t>Gate semi-dúplex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Mataba el eco… y sus transiciones fabricaban uno nuevo.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Retirado al llegar el AEC de hardware.</a:t>
            </a:r>
          </a:p>
        </p:txBody>
      </p:sp>
      <p:sp>
        <p:nvSpPr>
          <p:cNvPr id="9" name="body"/>
          <p:cNvSpPr txBox="1"/>
          <p:nvPr/>
        </p:nvSpPr>
        <p:spPr>
          <a:xfrm>
            <a:off x="640080" y="521208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1">
                <a:solidFill>
                  <a:srgbClr val="D29922"/>
                </a:solidFill>
                <a:latin typeface="Segoe UI"/>
              </a:rPr>
              <a:t>Saber quitar, con mediciones de campo, vale tanto como saber poner.</a:t>
            </a:r>
          </a:p>
        </p:txBody>
      </p:sp>
      <p:sp>
        <p:nvSpPr>
          <p:cNvPr id="10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8595360" y="3566160"/>
            <a:ext cx="2926080" cy="2926080"/>
          </a:xfrm>
          <a:prstGeom prst="ellipse">
            <a:avLst/>
          </a:prstGeom>
          <a:noFill/>
          <a:ln w="444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EL JEFE FINAL: EL ECO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6EDF3"/>
                </a:solidFill>
                <a:latin typeface="Segoe UI"/>
              </a:rPr>
              <a:t>¿Cómo lo hace WhatsApp?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640080" y="2286000"/>
            <a:ext cx="758952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El cancelador de eco real no vive en la app: vive dentro del chip de audio, donde parlante y micrófono están alineados muestra a muestra.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Nosotros usábamos el camino de audio de la MÚSICA. Ahí ese cancelador no existe.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3FB950"/>
                </a:solidFill>
                <a:latin typeface="Segoe UI"/>
              </a:rPr>
              <a:t>Migramos al camino de comunicación de Android (VOICE_COMMUNICATION): eco muerto, conversación full-dúplex.</a:t>
            </a:r>
          </a:p>
        </p:txBody>
      </p:sp>
      <p:sp>
        <p:nvSpPr>
          <p:cNvPr id="7" name="accent"/>
          <p:cNvSpPr txBox="1"/>
          <p:nvPr/>
        </p:nvSpPr>
        <p:spPr>
          <a:xfrm>
            <a:off x="640080" y="530352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58A6FF"/>
                </a:solidFill>
                <a:latin typeface="Segoe UI"/>
              </a:rPr>
              <a:t>Un algoritmo adaptativo solo puede compensar lo que puede observar.</a:t>
            </a:r>
          </a:p>
        </p:txBody>
      </p:sp>
      <p:sp>
        <p:nvSpPr>
          <p:cNvPr id="8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-1280160" y="-1463040"/>
            <a:ext cx="4572000" cy="4572000"/>
          </a:xfrm>
          <a:prstGeom prst="ellipse">
            <a:avLst/>
          </a:prstGeom>
          <a:noFill/>
          <a:ln w="444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EL RECEPTOR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6EDF3"/>
                </a:solidFill>
                <a:latin typeface="Segoe UI"/>
              </a:rPr>
              <a:t>DSP al rescate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640080" y="2286000"/>
            <a:ext cx="10607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PLC — el hueco se rellena repitiendo el último bloque, cada vez 3 dB más bajito: la pérdida se desvanece, no zumba.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Filtros IIR + FIR — recalibrados para 8 kHz (α = 0.85, corte ≈ 2.4 kHz). El α viejo, calculado a 44.1 kHz, cortaba en plena banda de la voz.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Hamming (7,4) — 4 bits de datos, 3 de paridad; el síndrome apunta directo al bit dañado y se corrige sin pedir reenvío.</a:t>
            </a:r>
          </a:p>
        </p:txBody>
      </p:sp>
      <p:sp>
        <p:nvSpPr>
          <p:cNvPr id="7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9692640" y="548640"/>
            <a:ext cx="2377440" cy="2377440"/>
          </a:xfrm>
          <a:prstGeom prst="ellipse">
            <a:avLst/>
          </a:prstGeom>
          <a:noFill/>
          <a:ln w="444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SHANNON, EN VIVO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6EDF3"/>
                </a:solidFill>
                <a:latin typeface="Segoe UI"/>
              </a:rPr>
              <a:t>H(X) y C: medidas, no recitadas</a:t>
            </a:r>
          </a:p>
        </p:txBody>
      </p:sp>
      <p:sp>
        <p:nvSpPr>
          <p:cNvPr id="6" name="cardA"/>
          <p:cNvSpPr/>
          <p:nvPr/>
        </p:nvSpPr>
        <p:spPr>
          <a:xfrm>
            <a:off x="640080" y="2286000"/>
            <a:ext cx="5394960" cy="246888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58A6FF"/>
                </a:solidFill>
                <a:latin typeface="Segoe UI"/>
              </a:rPr>
              <a:t>Entropía H(X)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Silencio ≈ 0–1 bit/muestra. Voz: 3 a 6, de 8 posibles.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Con ruido sube hacia 8: la entropía delata al ruido.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Voz en 8 bits con ~4 de información: por eso se puede comprimir.</a:t>
            </a:r>
          </a:p>
        </p:txBody>
      </p:sp>
      <p:sp>
        <p:nvSpPr>
          <p:cNvPr id="7" name="cardB"/>
          <p:cNvSpPr/>
          <p:nvPr/>
        </p:nvSpPr>
        <p:spPr>
          <a:xfrm>
            <a:off x="6217920" y="2286000"/>
            <a:ext cx="5394960" cy="246888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3FB950"/>
                </a:solidFill>
                <a:latin typeface="Segoe UI"/>
              </a:rPr>
              <a:t>Capacidad C = B·log₂(1+SNR)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El techo teórico del canal, calculado del RSSI en vivo.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El throughput real queda muy por debajo.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Esa brecha no es un error: es un resultado.</a:t>
            </a:r>
          </a:p>
        </p:txBody>
      </p:sp>
      <p:sp>
        <p:nvSpPr>
          <p:cNvPr id="8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3840480" y="1463040"/>
            <a:ext cx="4572000" cy="4572000"/>
          </a:xfrm>
          <a:prstGeom prst="ellipse">
            <a:avLst/>
          </a:prstGeom>
          <a:noFill/>
          <a:ln w="444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rb2"/>
          <p:cNvSpPr/>
          <p:nvPr/>
        </p:nvSpPr>
        <p:spPr>
          <a:xfrm>
            <a:off x="4754880" y="2377440"/>
            <a:ext cx="2743200" cy="2743200"/>
          </a:xfrm>
          <a:prstGeom prst="ellipse">
            <a:avLst/>
          </a:prstGeom>
          <a:solidFill>
            <a:srgbClr val="1B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640080" y="2651760"/>
            <a:ext cx="10881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6000" b="1">
                <a:solidFill>
                  <a:srgbClr val="E6EDF3"/>
                </a:solidFill>
                <a:latin typeface="Segoe UI"/>
              </a:rPr>
              <a:t>Demo en vivo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640080" y="41148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8B949E"/>
                </a:solidFill>
                <a:latin typeface="Segoe UI"/>
              </a:rPr>
              <a:t>sin optimizar (se oye el eco y el canal crudo)   →   AEC encendido (el eco muere)   →   canal degradado (filtro y Hamming trabajando, en el log)</a:t>
            </a:r>
          </a:p>
        </p:txBody>
      </p:sp>
      <p:sp>
        <p:nvSpPr>
          <p:cNvPr id="7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-1645920" y="3291840"/>
            <a:ext cx="3657600" cy="3657600"/>
          </a:xfrm>
          <a:prstGeom prst="ellipse">
            <a:avLst/>
          </a:prstGeom>
          <a:noFill/>
          <a:ln w="444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NÚMEROS FINALES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E6EDF3"/>
                </a:solidFill>
                <a:latin typeface="Segoe UI"/>
              </a:rPr>
              <a:t>¿Funcionó? Sí — y sabemos cuánto</a:t>
            </a:r>
          </a:p>
        </p:txBody>
      </p:sp>
      <p:sp>
        <p:nvSpPr>
          <p:cNvPr id="6" name="cardA"/>
          <p:cNvSpPr/>
          <p:nvPr/>
        </p:nvSpPr>
        <p:spPr>
          <a:xfrm>
            <a:off x="640080" y="2240280"/>
            <a:ext cx="5394960" cy="160020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3FB950"/>
                </a:solidFill>
                <a:latin typeface="Segoe UI"/>
              </a:rPr>
              <a:t>0.5 – 1 s de latencia, estable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Antes: crecía sin tope hasta 11 s. Ahora está acotada por construcción.</a:t>
            </a:r>
          </a:p>
        </p:txBody>
      </p:sp>
      <p:sp>
        <p:nvSpPr>
          <p:cNvPr id="7" name="cardB"/>
          <p:cNvSpPr/>
          <p:nvPr/>
        </p:nvSpPr>
        <p:spPr>
          <a:xfrm>
            <a:off x="6217920" y="2240280"/>
            <a:ext cx="5394960" cy="160020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58A6FF"/>
                </a:solidFill>
                <a:latin typeface="Segoe UI"/>
              </a:rPr>
              <a:t>0 % de pérdida en canal sano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Y sabemos por qué: RFCOMM retransmite solo. La pérdida real aparece con distancia.</a:t>
            </a:r>
          </a:p>
        </p:txBody>
      </p:sp>
      <p:sp>
        <p:nvSpPr>
          <p:cNvPr id="8" name="cardC"/>
          <p:cNvSpPr/>
          <p:nvPr/>
        </p:nvSpPr>
        <p:spPr>
          <a:xfrm>
            <a:off x="640080" y="4023360"/>
            <a:ext cx="5394960" cy="160020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D299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D29922"/>
                </a:solidFill>
                <a:latin typeface="Segoe UI"/>
              </a:rPr>
              <a:t>8 000 B/s por dirección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4× menos que el diseño inicial. Y en silencio: cero — cortesía del VAD.</a:t>
            </a:r>
          </a:p>
        </p:txBody>
      </p:sp>
      <p:sp>
        <p:nvSpPr>
          <p:cNvPr id="9" name="cardD"/>
          <p:cNvSpPr/>
          <p:nvPr/>
        </p:nvSpPr>
        <p:spPr>
          <a:xfrm>
            <a:off x="6217920" y="4023360"/>
            <a:ext cx="5394960" cy="1600200"/>
          </a:xfrm>
          <a:prstGeom prst="roundRect">
            <a:avLst/>
          </a:prstGeom>
          <a:solidFill>
            <a:srgbClr val="161B22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/>
          <a:lstStyle/>
          <a:p>
            <a:pPr algn="l"/>
            <a:r>
              <a:rPr sz="1700" b="1">
                <a:solidFill>
                  <a:srgbClr val="3FB950"/>
                </a:solidFill>
                <a:latin typeface="Segoe UI"/>
              </a:rPr>
              <a:t>Eco: eliminado en full-dúplex</a:t>
            </a:r>
          </a:p>
          <a:p>
            <a:pPr algn="l">
              <a:spcBef>
                <a:spcPts val="400"/>
              </a:spcBef>
            </a:pPr>
            <a:r>
              <a:rPr sz="1300">
                <a:solidFill>
                  <a:srgbClr val="E6EDF3"/>
                </a:solidFill>
                <a:latin typeface="Segoe UI"/>
              </a:rPr>
              <a:t>AEC de hardware por el camino de comunicación. Como una llamada.</a:t>
            </a:r>
          </a:p>
        </p:txBody>
      </p:sp>
      <p:sp>
        <p:nvSpPr>
          <p:cNvPr id="10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9875520" y="4389120"/>
            <a:ext cx="2560320" cy="2560320"/>
          </a:xfrm>
          <a:prstGeom prst="ellipse">
            <a:avLst/>
          </a:prstGeom>
          <a:noFill/>
          <a:ln w="444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kicker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8A6FF"/>
                </a:solidFill>
                <a:latin typeface="Segoe UI"/>
              </a:rPr>
              <a:t>PARA LLEVAR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640080" y="914400"/>
            <a:ext cx="10881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E6EDF3"/>
                </a:solidFill>
                <a:latin typeface="Segoe UI"/>
              </a:rPr>
              <a:t>Cinco frases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640080" y="2148840"/>
            <a:ext cx="104241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1 · El canal ruidoso no se simula: se mide.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2 · Comprimir la fuente y proteger el canal — la separación de Shannon — es la arquitectura de la app.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3 · En tiempo real, el consumidor debe ser al menos tan rápido como el productor. Lo demás se negocia.</a:t>
            </a:r>
          </a:p>
          <a:p>
            <a:pPr algn="l">
              <a:spcAft>
                <a:spcPts val="600"/>
              </a:spcAft>
            </a:pPr>
            <a:r>
              <a:rPr sz="1900" b="0">
                <a:solidFill>
                  <a:srgbClr val="E6EDF3"/>
                </a:solidFill>
                <a:latin typeface="Segoe UI"/>
              </a:rPr>
              <a:t>4 · El eco se resolvió con la infraestructura correcta, no con más matemática.</a:t>
            </a:r>
          </a:p>
          <a:p>
            <a:pPr algn="l">
              <a:spcAft>
                <a:spcPts val="600"/>
              </a:spcAft>
            </a:pPr>
            <a:r>
              <a:rPr sz="1900" b="1">
                <a:solidFill>
                  <a:srgbClr val="58A6FF"/>
                </a:solidFill>
                <a:latin typeface="Segoe UI"/>
              </a:rPr>
              <a:t>5 · Retiramos tres técnicas con evidencia. Saber quitar también es ingeniería.</a:t>
            </a:r>
          </a:p>
        </p:txBody>
      </p:sp>
      <p:sp>
        <p:nvSpPr>
          <p:cNvPr id="7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rb"/>
          <p:cNvSpPr/>
          <p:nvPr/>
        </p:nvSpPr>
        <p:spPr>
          <a:xfrm>
            <a:off x="4297680" y="1371600"/>
            <a:ext cx="3657600" cy="3657600"/>
          </a:xfrm>
          <a:prstGeom prst="ellipse">
            <a:avLst/>
          </a:prstGeom>
          <a:noFill/>
          <a:ln w="444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rb2"/>
          <p:cNvSpPr/>
          <p:nvPr/>
        </p:nvSpPr>
        <p:spPr>
          <a:xfrm>
            <a:off x="5120640" y="2194560"/>
            <a:ext cx="2011680" cy="2011680"/>
          </a:xfrm>
          <a:prstGeom prst="ellipse">
            <a:avLst/>
          </a:prstGeom>
          <a:solidFill>
            <a:srgbClr val="1B26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itle"/>
          <p:cNvSpPr txBox="1"/>
          <p:nvPr/>
        </p:nvSpPr>
        <p:spPr>
          <a:xfrm>
            <a:off x="640080" y="2834640"/>
            <a:ext cx="10881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E6EDF3"/>
                </a:solidFill>
                <a:latin typeface="Segoe UI"/>
              </a:rPr>
              <a:t>¿Preguntas?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58A6FF"/>
                </a:solidFill>
                <a:latin typeface="Segoe UI"/>
              </a:rPr>
              <a:t>github.com/OscarSapiensunal/TeoInfo-Proyect</a:t>
            </a:r>
          </a:p>
        </p:txBody>
      </p:sp>
      <p:sp>
        <p:nvSpPr>
          <p:cNvPr id="7" name="foot"/>
          <p:cNvSpPr txBox="1"/>
          <p:nvPr/>
        </p:nvSpPr>
        <p:spPr>
          <a:xfrm>
            <a:off x="640080" y="641908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B949E"/>
                </a:solidFill>
                <a:latin typeface="Segoe UI"/>
              </a:rPr>
              <a:t>DSP · BT Analyzer  —  Teoría de la Información y Sistemas de Comunicación · UNAL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