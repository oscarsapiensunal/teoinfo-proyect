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ABREBOCAS (esta lámina no revela la tecnología a propósito): entrégale el celular al profesor, confirma que está en modo avión, y pregúntale '¿cómo cree que me está escuchando en este momento?'. Deja que responda. Cuando llegue a Bluetooth, avanzas. Si no cae, tú lo revelas en la lámina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Aquí va un video corto (30-45 s) de la app funcionando entre los dos teléfonos, o haces la demo en vivo. En PowerPoint: Insertar &gt; Video &gt; Este dispositivo, y lo encajas en el marco. Si haces demo en vivo, usa esta lámina como respaldo por si el Bluetooth falla.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≈1 min. 'En efecto, Bluetooth.' Menciona que comparte banda con el Wi-Fi y el microondas, y que el chip esquiva la interferencia saltando de frecuencia 1600 veces por segundo, solo. Nosotros no controlamos eso; construimos todo lo demás encima.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≈1 min. La justificación. Doble valor: académico (medir lo que el curso enseña sobre un canal físico) y práctico (voz sin internet ni antenas; funciona en modo avión, como acabas de mostrar).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≈1 min. Recorre las cinco cajas. Esas dos ideas (comprimir la fuente / proteger el canal) son la estructura de Shannon; si el profe pregunta dónde está la teoría, está en cómo está organizado todo.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≈1.5 min. Muestreo (cada cuánto medís) y bits (con cuánta precisión) son cosas distintas: uno es el eje del tiempo, otro el de la altura. μ-law comprime imitando al oído.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≈1.5 min. Antes mandábamos bloques de 2 segundos (lento). Ahora pedacitos de 128 ms = conversación fluida. El número de orden se llama SEQ; el detector de silencio, VAD.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≈1 min. La herramienta para leer el registro se llama adb logcat. El fallo era de 'concurrencia': varias partes escribían el audio a la vez y chocaban; con un solo hilo escritor se acabó.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≈1.5 min. El 11 s es real, medido. La regla: en tiempo real el que reproduce debe ir al menos tan rápido como el que graba. Preferimos perder un pedacito a acumular retraso.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≈1 min. La pista fue que todo se recuperaba al silenciar mi propio micrófono. El detector de voz es el VAD; los reenvíos, el ARQ (los explico en la siguiente).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≈1.5 min. Esta lámina muestra el método: cada retiro tiene diagnóstico y medición detrás. NLMS, ARQ y semi-dúplex — nombres técnicos que puedes soltar si preguntan.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≈1.5 min. Nuestro filtro fallaba porque no tenía la información de tiempo alineada; el chip del teléfono sí la tiene. La lección: a veces la solución es usar la herramienta correcta del sistema, no más matemática.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≈1.5 min. Los tres nombres técnicos: PLC (rellenar pérdidas), filtros IIR/FIR (limpiar ruido), Hamming 7,4 (corregir bits). Si hay tablero, el ejemplo de Hamming a mano está en la guía escrita.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≈1 min. No las recitamos de un libro: la app las calcula con el audio que está pasando. Si preguntan por qué C es alta frente a lo real: C es el techo ideal; la diferencia mide el costo de la práctica.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≈3 min. GUION: (1) conversar 20 s sin optimizar, señalar el eco. (2) Activar el cancelador en plena frase: el eco desaparece. (3) 'Simular canal degradado': se oye el ruido; encender filtro (baja el silbido), corrección (el registro cuenta los bits arreglados), y el relleno de pérdidas. (4) Recorrer las medidas: señal, pérdida 0% y por qué, retraso, entropía subiendo con el ruido. Plan B: el video de la lámina 2 si el Bluetooth falla.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≈1 min. Cuatro números, cada uno con su historia ya contada. Señálalos, no los leas.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Total ≈ 15 min con demo. El banco de 30 preguntas con respuesta está en la guía escrita.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c"/>
          <p:cNvSpPr/>
          <p:nvPr/>
        </p:nvSpPr>
        <p:spPr>
          <a:xfrm>
            <a:off x="5097779" y="1725930"/>
            <a:ext cx="137160" cy="480059"/>
          </a:xfrm>
          <a:prstGeom prst="round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c"/>
          <p:cNvSpPr/>
          <p:nvPr/>
        </p:nvSpPr>
        <p:spPr>
          <a:xfrm>
            <a:off x="5330951" y="1554480"/>
            <a:ext cx="137160" cy="822959"/>
          </a:xfrm>
          <a:prstGeom prst="round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c"/>
          <p:cNvSpPr/>
          <p:nvPr/>
        </p:nvSpPr>
        <p:spPr>
          <a:xfrm>
            <a:off x="5564123" y="1348739"/>
            <a:ext cx="137160" cy="1234440"/>
          </a:xfrm>
          <a:prstGeom prst="round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c"/>
          <p:cNvSpPr/>
          <p:nvPr/>
        </p:nvSpPr>
        <p:spPr>
          <a:xfrm>
            <a:off x="5797295" y="1623060"/>
            <a:ext cx="137160" cy="685800"/>
          </a:xfrm>
          <a:prstGeom prst="round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c"/>
          <p:cNvSpPr/>
          <p:nvPr/>
        </p:nvSpPr>
        <p:spPr>
          <a:xfrm>
            <a:off x="6030467" y="1280160"/>
            <a:ext cx="137160" cy="1371600"/>
          </a:xfrm>
          <a:prstGeom prst="round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c"/>
          <p:cNvSpPr/>
          <p:nvPr/>
        </p:nvSpPr>
        <p:spPr>
          <a:xfrm>
            <a:off x="6263640" y="1657350"/>
            <a:ext cx="137160" cy="617220"/>
          </a:xfrm>
          <a:prstGeom prst="round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c"/>
          <p:cNvSpPr/>
          <p:nvPr/>
        </p:nvSpPr>
        <p:spPr>
          <a:xfrm>
            <a:off x="6496812" y="1383030"/>
            <a:ext cx="137160" cy="1165860"/>
          </a:xfrm>
          <a:prstGeom prst="round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c"/>
          <p:cNvSpPr/>
          <p:nvPr/>
        </p:nvSpPr>
        <p:spPr>
          <a:xfrm>
            <a:off x="6729983" y="1554480"/>
            <a:ext cx="137160" cy="822959"/>
          </a:xfrm>
          <a:prstGeom prst="round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c"/>
          <p:cNvSpPr/>
          <p:nvPr/>
        </p:nvSpPr>
        <p:spPr>
          <a:xfrm>
            <a:off x="6963155" y="1725930"/>
            <a:ext cx="137160" cy="480059"/>
          </a:xfrm>
          <a:prstGeom prst="round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x"/>
          <p:cNvSpPr txBox="1"/>
          <p:nvPr/>
        </p:nvSpPr>
        <p:spPr>
          <a:xfrm>
            <a:off x="685800" y="2788920"/>
            <a:ext cx="107899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E6EDF3"/>
                </a:solidFill>
                <a:latin typeface="Segoe UI"/>
              </a:rPr>
              <a:t>Comunicación de voz en tiempo real,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E6EDF3"/>
                </a:solidFill>
                <a:latin typeface="Segoe UI"/>
              </a:rPr>
              <a:t>punto a punto, entre dos teléfonos</a:t>
            </a:r>
          </a:p>
        </p:txBody>
      </p:sp>
      <p:sp>
        <p:nvSpPr>
          <p:cNvPr id="13" name="tx"/>
          <p:cNvSpPr txBox="1"/>
          <p:nvPr/>
        </p:nvSpPr>
        <p:spPr>
          <a:xfrm>
            <a:off x="685800" y="4800600"/>
            <a:ext cx="10789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58A6FF"/>
                </a:solidFill>
                <a:latin typeface="Segoe UI"/>
              </a:rPr>
              <a:t>Oscar Javier Saavedra Montero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8B949E"/>
                </a:solidFill>
                <a:latin typeface="Segoe UI"/>
              </a:rPr>
              <a:t>Teoría de la Información y Sistemas de Comunicación · Universidad Nacional de Colombia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kick"/>
          <p:cNvSpPr txBox="1"/>
          <p:nvPr/>
        </p:nvSpPr>
        <p:spPr>
          <a:xfrm>
            <a:off x="685800" y="4572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8A6FF"/>
                </a:solidFill>
                <a:latin typeface="Segoe UI"/>
              </a:rPr>
              <a:t>LA APLICACIÓN EN FUNCIONAMIENTO</a:t>
            </a:r>
          </a:p>
        </p:txBody>
      </p:sp>
      <p:sp>
        <p:nvSpPr>
          <p:cNvPr id="4" name="videoframe"/>
          <p:cNvSpPr/>
          <p:nvPr/>
        </p:nvSpPr>
        <p:spPr>
          <a:xfrm>
            <a:off x="2194560" y="1371600"/>
            <a:ext cx="7772400" cy="420624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c"/>
          <p:cNvSpPr/>
          <p:nvPr/>
        </p:nvSpPr>
        <p:spPr>
          <a:xfrm>
            <a:off x="5738774" y="2697480"/>
            <a:ext cx="854964" cy="1005840"/>
          </a:xfrm>
          <a:custGeom>
            <a:avLst/>
            <a:gdLst/>
            <a:ahLst/>
            <a:cxnLst/>
            <a:rect l="l" t="t" r="r" b="b"/>
            <a:pathLst>
              <a:path w="854964" h="1005840">
                <a:moveTo>
                  <a:pt x="0" y="0"/>
                </a:moveTo>
                <a:lnTo>
                  <a:pt x="854964" y="502920"/>
                </a:lnTo>
                <a:lnTo>
                  <a:pt x="0" y="1005840"/>
                </a:lnTo>
                <a:close/>
              </a:path>
            </a:pathLst>
          </a:cu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x"/>
          <p:cNvSpPr txBox="1"/>
          <p:nvPr/>
        </p:nvSpPr>
        <p:spPr>
          <a:xfrm>
            <a:off x="2194560" y="4892040"/>
            <a:ext cx="7772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8B949E"/>
                </a:solidFill>
                <a:latin typeface="Segoe UI"/>
              </a:rPr>
              <a:t>Reemplazar por el video corto de la demostración (o hacer la demo en vivo aquí)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c"/>
          <p:cNvSpPr/>
          <p:nvPr/>
        </p:nvSpPr>
        <p:spPr>
          <a:xfrm>
            <a:off x="10424160" y="914399"/>
            <a:ext cx="287670" cy="2377440"/>
          </a:xfrm>
          <a:custGeom>
            <a:avLst/>
            <a:gdLst/>
            <a:ahLst/>
            <a:cxnLst/>
            <a:rect l="l" t="t" r="r" b="b"/>
            <a:pathLst>
              <a:path w="287670" h="2377440">
                <a:moveTo>
                  <a:pt x="0" y="0"/>
                </a:moveTo>
                <a:lnTo>
                  <a:pt x="287670" y="594361"/>
                </a:lnTo>
                <a:lnTo>
                  <a:pt x="0" y="2377440"/>
                </a:lnTo>
                <a:lnTo>
                  <a:pt x="287670" y="1783081"/>
                </a:lnTo>
                <a:lnTo>
                  <a:pt x="0" y="0"/>
                </a:lnTo>
                <a:lnTo>
                  <a:pt x="0" y="2377440"/>
                </a:lnTo>
              </a:path>
            </a:pathLst>
          </a:custGeom>
          <a:noFill/>
          <a:ln w="635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ck"/>
          <p:cNvSpPr txBox="1"/>
          <p:nvPr/>
        </p:nvSpPr>
        <p:spPr>
          <a:xfrm>
            <a:off x="685800" y="4572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8A6FF"/>
                </a:solidFill>
                <a:latin typeface="Segoe UI"/>
              </a:rPr>
              <a:t>LA TECNOLOGÍA DETRÁS</a:t>
            </a:r>
          </a:p>
        </p:txBody>
      </p:sp>
      <p:sp>
        <p:nvSpPr>
          <p:cNvPr id="5" name="tx"/>
          <p:cNvSpPr txBox="1"/>
          <p:nvPr/>
        </p:nvSpPr>
        <p:spPr>
          <a:xfrm>
            <a:off x="685800" y="1280160"/>
            <a:ext cx="77724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1">
                <a:solidFill>
                  <a:srgbClr val="E6EDF3"/>
                </a:solidFill>
                <a:latin typeface="Segoe UI"/>
              </a:rPr>
              <a:t>Bluetooth.</a:t>
            </a:r>
          </a:p>
          <a:p>
            <a:pPr algn="l">
              <a:spcAft>
                <a:spcPts val="600"/>
              </a:spcAft>
            </a:pPr>
            <a:r>
              <a:rPr sz="3400" b="1">
                <a:solidFill>
                  <a:srgbClr val="58A6FF"/>
                </a:solidFill>
                <a:latin typeface="Segoe UI"/>
              </a:rPr>
              <a:t>Banda de 2.4 GHz.</a:t>
            </a:r>
          </a:p>
        </p:txBody>
      </p:sp>
      <p:sp>
        <p:nvSpPr>
          <p:cNvPr id="6" name="tx"/>
          <p:cNvSpPr txBox="1"/>
          <p:nvPr/>
        </p:nvSpPr>
        <p:spPr>
          <a:xfrm>
            <a:off x="685800" y="3840480"/>
            <a:ext cx="96012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E6EDF3"/>
                </a:solidFill>
                <a:latin typeface="Segoe UI"/>
              </a:rPr>
              <a:t>Casi siempre lo usamos solo para los audífonos y olvidamos que es un canal de comunicación completo.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8B949E"/>
                </a:solidFill>
                <a:latin typeface="Segoe UI"/>
              </a:rPr>
              <a:t>Es la misma banda del Wi-Fi y del microondas: hay interferencia real y la señal se debilita con la distancia y las paredes. Un canal de verdad, no uno de laboratorio.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c"/>
          <p:cNvSpPr/>
          <p:nvPr/>
        </p:nvSpPr>
        <p:spPr>
          <a:xfrm>
            <a:off x="9165945" y="2404872"/>
            <a:ext cx="402336" cy="704088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c"/>
          <p:cNvSpPr/>
          <p:nvPr/>
        </p:nvSpPr>
        <p:spPr>
          <a:xfrm>
            <a:off x="9809683" y="1962302"/>
            <a:ext cx="402336" cy="1146657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c"/>
          <p:cNvSpPr/>
          <p:nvPr/>
        </p:nvSpPr>
        <p:spPr>
          <a:xfrm>
            <a:off x="10453420" y="1519732"/>
            <a:ext cx="402336" cy="1589227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c"/>
          <p:cNvSpPr/>
          <p:nvPr/>
        </p:nvSpPr>
        <p:spPr>
          <a:xfrm>
            <a:off x="11097158" y="1077163"/>
            <a:ext cx="402336" cy="2031796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kick"/>
          <p:cNvSpPr txBox="1"/>
          <p:nvPr/>
        </p:nvSpPr>
        <p:spPr>
          <a:xfrm>
            <a:off x="685800" y="4572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8A6FF"/>
                </a:solidFill>
                <a:latin typeface="Segoe UI"/>
              </a:rPr>
              <a:t>POR QUÉ ESTE PROYECTO</a:t>
            </a:r>
          </a:p>
        </p:txBody>
      </p:sp>
      <p:sp>
        <p:nvSpPr>
          <p:cNvPr id="8" name="title"/>
          <p:cNvSpPr txBox="1"/>
          <p:nvPr/>
        </p:nvSpPr>
        <p:spPr>
          <a:xfrm>
            <a:off x="685800" y="932688"/>
            <a:ext cx="107899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6EDF3"/>
                </a:solidFill>
                <a:latin typeface="Segoe UI"/>
              </a:rPr>
              <a:t>En clase el canal con ruido se simula.
Aquí se mide uno real.</a:t>
            </a:r>
          </a:p>
        </p:txBody>
      </p:sp>
      <p:sp>
        <p:nvSpPr>
          <p:cNvPr id="9" name="tx"/>
          <p:cNvSpPr txBox="1"/>
          <p:nvPr/>
        </p:nvSpPr>
        <p:spPr>
          <a:xfrm>
            <a:off x="685800" y="3291840"/>
            <a:ext cx="96926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E6EDF3"/>
                </a:solidFill>
                <a:latin typeface="Segoe UI"/>
              </a:rPr>
              <a:t>El ruido no sale de una fórmula en el computador: sale del aire, con la distancia y los obstáculos reales.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8B949E"/>
                </a:solidFill>
                <a:latin typeface="Segoe UI"/>
              </a:rPr>
              <a:t>Dos teléfonos cualquiera se vuelven un instrumento que transmite voz y, al mismo tiempo, mide la calidad del canal: intensidad de señal, pérdidas, retraso, y las medidas del curso.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kick"/>
          <p:cNvSpPr txBox="1"/>
          <p:nvPr/>
        </p:nvSpPr>
        <p:spPr>
          <a:xfrm>
            <a:off x="685800" y="4572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8A6FF"/>
                </a:solidFill>
                <a:latin typeface="Segoe UI"/>
              </a:rPr>
              <a:t>EL RECORRIDO DE LA VOZ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85800" y="932688"/>
            <a:ext cx="107899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6EDF3"/>
                </a:solidFill>
                <a:latin typeface="Segoe UI"/>
              </a:rPr>
              <a:t>De un micrófono al parlante del otro teléfono</a:t>
            </a:r>
          </a:p>
        </p:txBody>
      </p:sp>
      <p:sp>
        <p:nvSpPr>
          <p:cNvPr id="5" name="et0"/>
          <p:cNvSpPr/>
          <p:nvPr/>
        </p:nvSpPr>
        <p:spPr>
          <a:xfrm>
            <a:off x="502920" y="2468880"/>
            <a:ext cx="2084831" cy="13716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58A6FF"/>
                </a:solidFill>
                <a:latin typeface="Segoe UI"/>
              </a:rPr>
              <a:t>Voz</a:t>
            </a:r>
          </a:p>
        </p:txBody>
      </p:sp>
      <p:sp>
        <p:nvSpPr>
          <p:cNvPr id="6" name="arr"/>
          <p:cNvSpPr/>
          <p:nvPr/>
        </p:nvSpPr>
        <p:spPr>
          <a:xfrm>
            <a:off x="2606039" y="2971800"/>
            <a:ext cx="201168" cy="365760"/>
          </a:xfrm>
          <a:prstGeom prst="rightArrow">
            <a:avLst/>
          </a:prstGeom>
          <a:solidFill>
            <a:srgbClr val="8B94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t1"/>
          <p:cNvSpPr/>
          <p:nvPr/>
        </p:nvSpPr>
        <p:spPr>
          <a:xfrm>
            <a:off x="2807208" y="2468880"/>
            <a:ext cx="2084831" cy="13716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3FB950"/>
                </a:solidFill>
                <a:latin typeface="Segoe UI"/>
              </a:rPr>
              <a:t>Convertir
en números</a:t>
            </a:r>
          </a:p>
        </p:txBody>
      </p:sp>
      <p:sp>
        <p:nvSpPr>
          <p:cNvPr id="8" name="arr"/>
          <p:cNvSpPr/>
          <p:nvPr/>
        </p:nvSpPr>
        <p:spPr>
          <a:xfrm>
            <a:off x="4910328" y="2971800"/>
            <a:ext cx="201168" cy="365760"/>
          </a:xfrm>
          <a:prstGeom prst="rightArrow">
            <a:avLst/>
          </a:prstGeom>
          <a:solidFill>
            <a:srgbClr val="8B94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t2"/>
          <p:cNvSpPr/>
          <p:nvPr/>
        </p:nvSpPr>
        <p:spPr>
          <a:xfrm>
            <a:off x="5111496" y="2468880"/>
            <a:ext cx="2084831" cy="13716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D299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D29922"/>
                </a:solidFill>
                <a:latin typeface="Segoe UI"/>
              </a:rPr>
              <a:t>Enviar por
el aire</a:t>
            </a:r>
          </a:p>
        </p:txBody>
      </p:sp>
      <p:sp>
        <p:nvSpPr>
          <p:cNvPr id="10" name="arr"/>
          <p:cNvSpPr/>
          <p:nvPr/>
        </p:nvSpPr>
        <p:spPr>
          <a:xfrm>
            <a:off x="7214616" y="2971800"/>
            <a:ext cx="201168" cy="365760"/>
          </a:xfrm>
          <a:prstGeom prst="rightArrow">
            <a:avLst/>
          </a:prstGeom>
          <a:solidFill>
            <a:srgbClr val="8B94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t3"/>
          <p:cNvSpPr/>
          <p:nvPr/>
        </p:nvSpPr>
        <p:spPr>
          <a:xfrm>
            <a:off x="7415784" y="2468880"/>
            <a:ext cx="2084831" cy="13716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3FB950"/>
                </a:solidFill>
                <a:latin typeface="Segoe UI"/>
              </a:rPr>
              <a:t>Reconstruir
al llegar</a:t>
            </a:r>
          </a:p>
        </p:txBody>
      </p:sp>
      <p:sp>
        <p:nvSpPr>
          <p:cNvPr id="12" name="arr"/>
          <p:cNvSpPr/>
          <p:nvPr/>
        </p:nvSpPr>
        <p:spPr>
          <a:xfrm>
            <a:off x="9518904" y="2971800"/>
            <a:ext cx="201168" cy="365760"/>
          </a:xfrm>
          <a:prstGeom prst="rightArrow">
            <a:avLst/>
          </a:prstGeom>
          <a:solidFill>
            <a:srgbClr val="8B94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t4"/>
          <p:cNvSpPr/>
          <p:nvPr/>
        </p:nvSpPr>
        <p:spPr>
          <a:xfrm>
            <a:off x="9720072" y="2468880"/>
            <a:ext cx="2084831" cy="13716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58A6FF"/>
                </a:solidFill>
                <a:latin typeface="Segoe UI"/>
              </a:rPr>
              <a:t>Sonido</a:t>
            </a:r>
          </a:p>
        </p:txBody>
      </p:sp>
      <p:sp>
        <p:nvSpPr>
          <p:cNvPr id="14" name="tx"/>
          <p:cNvSpPr txBox="1"/>
          <p:nvPr/>
        </p:nvSpPr>
        <p:spPr>
          <a:xfrm>
            <a:off x="685800" y="4297680"/>
            <a:ext cx="10789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8B949E"/>
                </a:solidFill>
                <a:latin typeface="Segoe UI"/>
              </a:rPr>
              <a:t>Todo el proyecto son dos ideas: comprimir bien la voz para que quepa en el canal, y protegerla del ruido cuando llega. El resto son detalles de esas dos.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c"/>
          <p:cNvSpPr/>
          <p:nvPr/>
        </p:nvSpPr>
        <p:spPr>
          <a:xfrm>
            <a:off x="10059314" y="1143000"/>
            <a:ext cx="729691" cy="1077163"/>
          </a:xfrm>
          <a:prstGeom prst="round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c"/>
          <p:cNvSpPr/>
          <p:nvPr/>
        </p:nvSpPr>
        <p:spPr>
          <a:xfrm>
            <a:off x="9876891" y="1903963"/>
            <a:ext cx="1094536" cy="969446"/>
          </a:xfrm>
          <a:prstGeom prst="blockArc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c"/>
          <p:cNvSpPr/>
          <p:nvPr/>
        </p:nvSpPr>
        <p:spPr>
          <a:xfrm>
            <a:off x="10372039" y="2464088"/>
            <a:ext cx="104241" cy="382219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c"/>
          <p:cNvSpPr/>
          <p:nvPr/>
        </p:nvSpPr>
        <p:spPr>
          <a:xfrm>
            <a:off x="10076688" y="2657977"/>
            <a:ext cx="694944" cy="104241"/>
          </a:xfrm>
          <a:prstGeom prst="round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kick"/>
          <p:cNvSpPr txBox="1"/>
          <p:nvPr/>
        </p:nvSpPr>
        <p:spPr>
          <a:xfrm>
            <a:off x="685800" y="4572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8A6FF"/>
                </a:solidFill>
                <a:latin typeface="Segoe UI"/>
              </a:rPr>
              <a:t>PASO 1 · CONVERTIR LA VOZ EN NÚMEROS</a:t>
            </a:r>
          </a:p>
        </p:txBody>
      </p:sp>
      <p:sp>
        <p:nvSpPr>
          <p:cNvPr id="8" name="title"/>
          <p:cNvSpPr txBox="1"/>
          <p:nvPr/>
        </p:nvSpPr>
        <p:spPr>
          <a:xfrm>
            <a:off x="685800" y="932688"/>
            <a:ext cx="107899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Segoe UI"/>
              </a:rPr>
              <a:t>8 000 muestras por segundo, 8 bits cada una</a:t>
            </a:r>
          </a:p>
        </p:txBody>
      </p:sp>
      <p:sp>
        <p:nvSpPr>
          <p:cNvPr id="9" name="card"/>
          <p:cNvSpPr/>
          <p:nvPr/>
        </p:nvSpPr>
        <p:spPr>
          <a:xfrm>
            <a:off x="685800" y="2331720"/>
            <a:ext cx="3520440" cy="2834640"/>
          </a:xfrm>
          <a:prstGeom prst="roundRect">
            <a:avLst/>
          </a:prstGeom>
          <a:solidFill>
            <a:srgbClr val="161B22"/>
          </a:solidFill>
          <a:ln w="15875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/>
          <a:lstStyle/>
          <a:p>
            <a:pPr algn="ctr"/>
            <a:r>
              <a:rPr sz="1600" b="1">
                <a:solidFill>
                  <a:srgbClr val="58A6FF"/>
                </a:solidFill>
                <a:latin typeface="Segoe UI"/>
              </a:rPr>
              <a:t>8 000 por segundo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E6EDF3"/>
                </a:solidFill>
                <a:latin typeface="Segoe UI"/>
              </a:rPr>
              <a:t>Tomarle una foto a la onda 8 000 veces por segundo.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E6EDF3"/>
                </a:solidFill>
                <a:latin typeface="Segoe UI"/>
              </a:rPr>
              <a:t>Alcanza para la voz, que llega hasta 3 400 Hz. Más rápido gastaría el doble sin sonar mejor.</a:t>
            </a:r>
          </a:p>
        </p:txBody>
      </p:sp>
      <p:sp>
        <p:nvSpPr>
          <p:cNvPr id="10" name="card"/>
          <p:cNvSpPr/>
          <p:nvPr/>
        </p:nvSpPr>
        <p:spPr>
          <a:xfrm>
            <a:off x="4343400" y="2331720"/>
            <a:ext cx="3520440" cy="2834640"/>
          </a:xfrm>
          <a:prstGeom prst="roundRect">
            <a:avLst/>
          </a:prstGeom>
          <a:solidFill>
            <a:srgbClr val="161B22"/>
          </a:solidFill>
          <a:ln w="15875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/>
          <a:lstStyle/>
          <a:p>
            <a:pPr algn="ctr"/>
            <a:r>
              <a:rPr sz="1600" b="1">
                <a:solidFill>
                  <a:srgbClr val="3FB950"/>
                </a:solidFill>
                <a:latin typeface="Segoe UI"/>
              </a:rPr>
              <a:t>16 → 8 bits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E6EDF3"/>
                </a:solidFill>
                <a:latin typeface="Segoe UI"/>
              </a:rPr>
              <a:t>Cada muestra es la altura de la onda, medida con precisión.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E6EDF3"/>
                </a:solidFill>
                <a:latin typeface="Segoe UI"/>
              </a:rPr>
              <a:t>La comprimimos a la mitad con μ-law, aprovechando que el oído nota más los sonidos suaves que los fuertes.</a:t>
            </a:r>
          </a:p>
        </p:txBody>
      </p:sp>
      <p:sp>
        <p:nvSpPr>
          <p:cNvPr id="11" name="card"/>
          <p:cNvSpPr/>
          <p:nvPr/>
        </p:nvSpPr>
        <p:spPr>
          <a:xfrm>
            <a:off x="8001000" y="2331720"/>
            <a:ext cx="3520440" cy="2834640"/>
          </a:xfrm>
          <a:prstGeom prst="roundRect">
            <a:avLst/>
          </a:prstGeom>
          <a:solidFill>
            <a:srgbClr val="161B22"/>
          </a:solidFill>
          <a:ln w="15875">
            <a:solidFill>
              <a:srgbClr val="D299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/>
          <a:lstStyle/>
          <a:p>
            <a:pPr algn="ctr"/>
            <a:r>
              <a:rPr sz="1600" b="1">
                <a:solidFill>
                  <a:srgbClr val="D29922"/>
                </a:solidFill>
                <a:latin typeface="Segoe UI"/>
              </a:rPr>
              <a:t>Como un teléfono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E6EDF3"/>
                </a:solidFill>
                <a:latin typeface="Segoe UI"/>
              </a:rPr>
              <a:t>μ-law es el estándar de la telefonía (G.711), de 1972.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E6EDF3"/>
                </a:solidFill>
                <a:latin typeface="Segoe UI"/>
              </a:rPr>
              <a:t>El resultado: calidad de llamada, con 4 veces menos datos que al principio.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c"/>
          <p:cNvSpPr/>
          <p:nvPr/>
        </p:nvSpPr>
        <p:spPr>
          <a:xfrm>
            <a:off x="9106509" y="1739646"/>
            <a:ext cx="155448" cy="544068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c"/>
          <p:cNvSpPr/>
          <p:nvPr/>
        </p:nvSpPr>
        <p:spPr>
          <a:xfrm>
            <a:off x="9370771" y="1545336"/>
            <a:ext cx="155448" cy="932688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c"/>
          <p:cNvSpPr/>
          <p:nvPr/>
        </p:nvSpPr>
        <p:spPr>
          <a:xfrm>
            <a:off x="9635032" y="1312164"/>
            <a:ext cx="155448" cy="1399032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c"/>
          <p:cNvSpPr/>
          <p:nvPr/>
        </p:nvSpPr>
        <p:spPr>
          <a:xfrm>
            <a:off x="9899294" y="1623060"/>
            <a:ext cx="155448" cy="777240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c"/>
          <p:cNvSpPr/>
          <p:nvPr/>
        </p:nvSpPr>
        <p:spPr>
          <a:xfrm>
            <a:off x="10163556" y="1234440"/>
            <a:ext cx="155448" cy="1554480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c"/>
          <p:cNvSpPr/>
          <p:nvPr/>
        </p:nvSpPr>
        <p:spPr>
          <a:xfrm>
            <a:off x="10427817" y="1661922"/>
            <a:ext cx="155448" cy="699516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c"/>
          <p:cNvSpPr/>
          <p:nvPr/>
        </p:nvSpPr>
        <p:spPr>
          <a:xfrm>
            <a:off x="10692079" y="1351026"/>
            <a:ext cx="155448" cy="1321307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c"/>
          <p:cNvSpPr/>
          <p:nvPr/>
        </p:nvSpPr>
        <p:spPr>
          <a:xfrm>
            <a:off x="10956340" y="1545336"/>
            <a:ext cx="155448" cy="932688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c"/>
          <p:cNvSpPr/>
          <p:nvPr/>
        </p:nvSpPr>
        <p:spPr>
          <a:xfrm>
            <a:off x="11220602" y="1739646"/>
            <a:ext cx="155448" cy="544068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kick"/>
          <p:cNvSpPr txBox="1"/>
          <p:nvPr/>
        </p:nvSpPr>
        <p:spPr>
          <a:xfrm>
            <a:off x="685800" y="4572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8A6FF"/>
                </a:solidFill>
                <a:latin typeface="Segoe UI"/>
              </a:rPr>
              <a:t>PASO 2 · EMPAQUETAR Y ENVIAR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685800" y="932688"/>
            <a:ext cx="107899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Segoe UI"/>
              </a:rPr>
              <a:t>Pedacitos de 128 ms que salen apenas se llenan</a:t>
            </a:r>
          </a:p>
        </p:txBody>
      </p:sp>
      <p:sp>
        <p:nvSpPr>
          <p:cNvPr id="14" name="tx"/>
          <p:cNvSpPr txBox="1"/>
          <p:nvPr/>
        </p:nvSpPr>
        <p:spPr>
          <a:xfrm>
            <a:off x="685800" y="2468880"/>
            <a:ext cx="96926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>
                <a:solidFill>
                  <a:srgbClr val="E6EDF3"/>
                </a:solidFill>
                <a:latin typeface="Segoe UI"/>
              </a:rPr>
              <a:t>Cada paquete lleva un número de orden. Si llega el 5 y luego el 8, el receptor sabe que se perdieron el 6 y el 7 — sin preguntar nada.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3FB950"/>
                </a:solidFill>
                <a:latin typeface="Segoe UI"/>
              </a:rPr>
              <a:t>Si un pedacito es silencio, no se envía. En una conversación normal cada persona calla más de la mitad del tiempo: ese ahorro es enorme.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8B949E"/>
                </a:solidFill>
                <a:latin typeface="Segoe UI"/>
              </a:rPr>
              <a:t>Y para medir el retraso mandamos aparte un mensajito diminuto de 12 bytes que rebota — no la voz completa.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c"/>
          <p:cNvSpPr/>
          <p:nvPr/>
        </p:nvSpPr>
        <p:spPr>
          <a:xfrm>
            <a:off x="10078516" y="1188720"/>
            <a:ext cx="691286" cy="1020470"/>
          </a:xfrm>
          <a:prstGeom prst="round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c"/>
          <p:cNvSpPr/>
          <p:nvPr/>
        </p:nvSpPr>
        <p:spPr>
          <a:xfrm>
            <a:off x="9905695" y="1909632"/>
            <a:ext cx="1036929" cy="918423"/>
          </a:xfrm>
          <a:prstGeom prst="blockArc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c"/>
          <p:cNvSpPr/>
          <p:nvPr/>
        </p:nvSpPr>
        <p:spPr>
          <a:xfrm>
            <a:off x="10374782" y="2440277"/>
            <a:ext cx="98755" cy="362102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c"/>
          <p:cNvSpPr/>
          <p:nvPr/>
        </p:nvSpPr>
        <p:spPr>
          <a:xfrm>
            <a:off x="10094976" y="2623962"/>
            <a:ext cx="658368" cy="98755"/>
          </a:xfrm>
          <a:prstGeom prst="round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kick"/>
          <p:cNvSpPr txBox="1"/>
          <p:nvPr/>
        </p:nvSpPr>
        <p:spPr>
          <a:xfrm>
            <a:off x="685800" y="4572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85149"/>
                </a:solidFill>
                <a:latin typeface="Segoe UI"/>
              </a:rPr>
              <a:t>LO QUE SALIÓ MAL, Y CÓMO SE RESOLVIÓ</a:t>
            </a:r>
          </a:p>
        </p:txBody>
      </p:sp>
      <p:sp>
        <p:nvSpPr>
          <p:cNvPr id="8" name="title"/>
          <p:cNvSpPr txBox="1"/>
          <p:nvPr/>
        </p:nvSpPr>
        <p:spPr>
          <a:xfrm>
            <a:off x="685800" y="932688"/>
            <a:ext cx="107899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Segoe UI"/>
              </a:rPr>
              <a:t>La aplicación se cerraba sola al reproducir</a:t>
            </a:r>
          </a:p>
        </p:txBody>
      </p:sp>
      <p:sp>
        <p:nvSpPr>
          <p:cNvPr id="9" name="tx"/>
          <p:cNvSpPr txBox="1"/>
          <p:nvPr/>
        </p:nvSpPr>
        <p:spPr>
          <a:xfrm>
            <a:off x="685800" y="2423160"/>
            <a:ext cx="941832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E6EDF3"/>
                </a:solidFill>
                <a:latin typeface="Segoe UI"/>
              </a:rPr>
              <a:t>Qué pasaba:  se cerraba de golpe, sin mostrar ningún error en nuestro código.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E6EDF3"/>
                </a:solidFill>
                <a:latin typeface="Segoe UI"/>
              </a:rPr>
              <a:t>Por qué:  el fallo estaba dentro de una librería de audio que usábamos (un error conocido), y se repetía en tres teléfonos distintos. Lo encontramos leyendo el registro interno de Android conectado por USB.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3FB950"/>
                </a:solidFill>
                <a:latin typeface="Segoe UI"/>
              </a:rPr>
              <a:t>Cómo se resolvió:  dejar la librería y hablarle directo al sistema de sonido de Android, con una sola fila ordenada encargada de escribir el audio. Sin choques, sin cierres.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x"/>
          <p:cNvSpPr txBox="1"/>
          <p:nvPr/>
        </p:nvSpPr>
        <p:spPr>
          <a:xfrm>
            <a:off x="8869680" y="2011680"/>
            <a:ext cx="29260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8000" b="1">
                <a:solidFill>
                  <a:srgbClr val="F85149"/>
                </a:solidFill>
                <a:latin typeface="Segoe UI Black"/>
              </a:rPr>
              <a:t>11 s</a:t>
            </a:r>
          </a:p>
        </p:txBody>
      </p:sp>
      <p:sp>
        <p:nvSpPr>
          <p:cNvPr id="4" name="kick"/>
          <p:cNvSpPr txBox="1"/>
          <p:nvPr/>
        </p:nvSpPr>
        <p:spPr>
          <a:xfrm>
            <a:off x="685800" y="4572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85149"/>
                </a:solidFill>
                <a:latin typeface="Segoe UI"/>
              </a:rPr>
              <a:t>LO QUE SALIÓ MAL, Y CÓMO SE RESOLVIÓ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685800" y="932688"/>
            <a:ext cx="107899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Segoe UI"/>
              </a:rPr>
              <a:t>El retraso crecía y no paraba</a:t>
            </a:r>
          </a:p>
        </p:txBody>
      </p:sp>
      <p:sp>
        <p:nvSpPr>
          <p:cNvPr id="6" name="tx"/>
          <p:cNvSpPr txBox="1"/>
          <p:nvPr/>
        </p:nvSpPr>
        <p:spPr>
          <a:xfrm>
            <a:off x="685800" y="2423160"/>
            <a:ext cx="786384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E6EDF3"/>
                </a:solidFill>
                <a:latin typeface="Segoe UI"/>
              </a:rPr>
              <a:t>Qué pasaba:  empezaba bien, y en un minuto ya iba en varios segundos, hasta cortarse.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E6EDF3"/>
                </a:solidFill>
                <a:latin typeface="Segoe UI"/>
              </a:rPr>
              <a:t>Por qué:  reproducir 2 segundos de audio tardaba 2,2. Si el que reproduce es más lento que el que graba, la cola solo puede crecer.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3FB950"/>
                </a:solidFill>
                <a:latin typeface="Segoe UI"/>
              </a:rPr>
              <a:t>Cómo se resolvió:  enviar en pedacitos pequeños y ponerle un límite a cada cola: si se llena, se descarta lo más viejo. El retraso quedó fijo, entre medio segundo y un segundo.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c"/>
          <p:cNvSpPr/>
          <p:nvPr/>
        </p:nvSpPr>
        <p:spPr>
          <a:xfrm>
            <a:off x="10078516" y="1188720"/>
            <a:ext cx="691286" cy="1020470"/>
          </a:xfrm>
          <a:prstGeom prst="round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c"/>
          <p:cNvSpPr/>
          <p:nvPr/>
        </p:nvSpPr>
        <p:spPr>
          <a:xfrm>
            <a:off x="9905695" y="1909632"/>
            <a:ext cx="1036929" cy="918423"/>
          </a:xfrm>
          <a:prstGeom prst="blockArc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c"/>
          <p:cNvSpPr/>
          <p:nvPr/>
        </p:nvSpPr>
        <p:spPr>
          <a:xfrm>
            <a:off x="10374782" y="2440277"/>
            <a:ext cx="98755" cy="362102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c"/>
          <p:cNvSpPr/>
          <p:nvPr/>
        </p:nvSpPr>
        <p:spPr>
          <a:xfrm>
            <a:off x="10094976" y="2623962"/>
            <a:ext cx="658368" cy="98755"/>
          </a:xfrm>
          <a:prstGeom prst="round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kick"/>
          <p:cNvSpPr txBox="1"/>
          <p:nvPr/>
        </p:nvSpPr>
        <p:spPr>
          <a:xfrm>
            <a:off x="685800" y="4572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85149"/>
                </a:solidFill>
                <a:latin typeface="Segoe UI"/>
              </a:rPr>
              <a:t>LO QUE SALIÓ MAL, Y CÓMO SE RESOLVIÓ</a:t>
            </a:r>
          </a:p>
        </p:txBody>
      </p:sp>
      <p:sp>
        <p:nvSpPr>
          <p:cNvPr id="8" name="title"/>
          <p:cNvSpPr txBox="1"/>
          <p:nvPr/>
        </p:nvSpPr>
        <p:spPr>
          <a:xfrm>
            <a:off x="685800" y="932688"/>
            <a:ext cx="107899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Segoe UI"/>
              </a:rPr>
              <a:t>Se enviaba silencio todo el tiempo</a:t>
            </a:r>
          </a:p>
        </p:txBody>
      </p:sp>
      <p:sp>
        <p:nvSpPr>
          <p:cNvPr id="9" name="tx"/>
          <p:cNvSpPr txBox="1"/>
          <p:nvPr/>
        </p:nvSpPr>
        <p:spPr>
          <a:xfrm>
            <a:off x="685800" y="2423160"/>
            <a:ext cx="941832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E6EDF3"/>
                </a:solidFill>
                <a:latin typeface="Segoe UI"/>
              </a:rPr>
              <a:t>Qué pasaba:  el canal se saturaba aunque nadie estuviera hablando.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E6EDF3"/>
                </a:solidFill>
                <a:latin typeface="Segoe UI"/>
              </a:rPr>
              <a:t>Por qué:  sin el detector de voz, el micrófono mandaba datos las 24 horas. Y encima, pedir de nuevo los paquetes perdidos saturaba todavía más un canal ya lleno.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3FB950"/>
                </a:solidFill>
                <a:latin typeface="Segoe UI"/>
              </a:rPr>
              <a:t>Cómo se resolvió:  no enviar el silencio, quitar esos reenvíos, y comprimir los datos 4 veces más (8 kHz + μ-law).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kick"/>
          <p:cNvSpPr txBox="1"/>
          <p:nvPr/>
        </p:nvSpPr>
        <p:spPr>
          <a:xfrm>
            <a:off x="685800" y="4572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D29922"/>
                </a:solidFill>
                <a:latin typeface="Segoe UI"/>
              </a:rPr>
              <a:t>DECISIONES CON MEDICIÓN, NO CON INTUICIÓN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85800" y="932688"/>
            <a:ext cx="107899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Segoe UI"/>
              </a:rPr>
              <a:t>Tres técnicas que quitamos a propósito</a:t>
            </a:r>
          </a:p>
        </p:txBody>
      </p:sp>
      <p:sp>
        <p:nvSpPr>
          <p:cNvPr id="5" name="card"/>
          <p:cNvSpPr/>
          <p:nvPr/>
        </p:nvSpPr>
        <p:spPr>
          <a:xfrm>
            <a:off x="685800" y="2286000"/>
            <a:ext cx="3520440" cy="2926080"/>
          </a:xfrm>
          <a:prstGeom prst="roundRect">
            <a:avLst/>
          </a:prstGeom>
          <a:solidFill>
            <a:srgbClr val="161B22"/>
          </a:solidFill>
          <a:ln w="15875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/>
          <a:lstStyle/>
          <a:p>
            <a:pPr algn="ctr"/>
            <a:r>
              <a:rPr sz="1600" b="1">
                <a:solidFill>
                  <a:srgbClr val="F85149"/>
                </a:solidFill>
                <a:latin typeface="Segoe UI"/>
              </a:rPr>
              <a:t>Cancelar eco con un filtro que aprende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E6EDF3"/>
                </a:solidFill>
                <a:latin typeface="Segoe UI"/>
              </a:rPr>
              <a:t>Un filtro que se ajusta solo para restar el eco (NLMS).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E6EDF3"/>
                </a:solidFill>
                <a:latin typeface="Segoe UI"/>
              </a:rPr>
              <a:t>No lograba saber cuándo exactamente había sonado cada cosa. No cancelaba; ensuciaba la voz.</a:t>
            </a:r>
          </a:p>
        </p:txBody>
      </p:sp>
      <p:sp>
        <p:nvSpPr>
          <p:cNvPr id="6" name="card"/>
          <p:cNvSpPr/>
          <p:nvPr/>
        </p:nvSpPr>
        <p:spPr>
          <a:xfrm>
            <a:off x="4343400" y="2286000"/>
            <a:ext cx="3520440" cy="2926080"/>
          </a:xfrm>
          <a:prstGeom prst="roundRect">
            <a:avLst/>
          </a:prstGeom>
          <a:solidFill>
            <a:srgbClr val="161B22"/>
          </a:solidFill>
          <a:ln w="15875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/>
          <a:lstStyle/>
          <a:p>
            <a:pPr algn="ctr"/>
            <a:r>
              <a:rPr sz="1600" b="1">
                <a:solidFill>
                  <a:srgbClr val="F85149"/>
                </a:solidFill>
                <a:latin typeface="Segoe UI"/>
              </a:rPr>
              <a:t>Pedir reenvíos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E6EDF3"/>
                </a:solidFill>
                <a:latin typeface="Segoe UI"/>
              </a:rPr>
              <a:t>Si se pierde un paquete, pedir que lo manden otra vez (ARQ).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E6EDF3"/>
                </a:solidFill>
                <a:latin typeface="Segoe UI"/>
              </a:rPr>
              <a:t>En un canal ya lleno, cada reenvío lo llenaba más: peor, no mejor.</a:t>
            </a:r>
          </a:p>
        </p:txBody>
      </p:sp>
      <p:sp>
        <p:nvSpPr>
          <p:cNvPr id="7" name="card"/>
          <p:cNvSpPr/>
          <p:nvPr/>
        </p:nvSpPr>
        <p:spPr>
          <a:xfrm>
            <a:off x="8001000" y="2286000"/>
            <a:ext cx="3520440" cy="2926080"/>
          </a:xfrm>
          <a:prstGeom prst="roundRect">
            <a:avLst/>
          </a:prstGeom>
          <a:solidFill>
            <a:srgbClr val="161B22"/>
          </a:solidFill>
          <a:ln w="15875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/>
          <a:lstStyle/>
          <a:p>
            <a:pPr algn="ctr"/>
            <a:r>
              <a:rPr sz="1600" b="1">
                <a:solidFill>
                  <a:srgbClr val="F85149"/>
                </a:solidFill>
                <a:latin typeface="Segoe UI"/>
              </a:rPr>
              <a:t>Cerrar el micrófono por turnos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E6EDF3"/>
                </a:solidFill>
                <a:latin typeface="Segoe UI"/>
              </a:rPr>
              <a:t>Silenciar el micrófono mientras suena el parlante propio, como un walkie-talkie.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E6EDF3"/>
                </a:solidFill>
                <a:latin typeface="Segoe UI"/>
              </a:rPr>
              <a:t>Funcionaba, pero cortaba pedazos de voz al abrir y cerrar.</a:t>
            </a:r>
          </a:p>
        </p:txBody>
      </p:sp>
      <p:sp>
        <p:nvSpPr>
          <p:cNvPr id="8" name="tx"/>
          <p:cNvSpPr txBox="1"/>
          <p:nvPr/>
        </p:nvSpPr>
        <p:spPr>
          <a:xfrm>
            <a:off x="685800" y="539496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D29922"/>
                </a:solidFill>
                <a:latin typeface="Segoe UI"/>
              </a:rPr>
              <a:t>Quitar algo con evidencia de campo también es un resultado.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c"/>
          <p:cNvSpPr/>
          <p:nvPr/>
        </p:nvSpPr>
        <p:spPr>
          <a:xfrm>
            <a:off x="9326880" y="1188719"/>
            <a:ext cx="1828800" cy="1828800"/>
          </a:xfrm>
          <a:prstGeom prst="blockArc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ck"/>
          <p:cNvSpPr txBox="1"/>
          <p:nvPr/>
        </p:nvSpPr>
        <p:spPr>
          <a:xfrm>
            <a:off x="685800" y="4572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8A6FF"/>
                </a:solidFill>
                <a:latin typeface="Segoe UI"/>
              </a:rPr>
              <a:t>EL PROBLEMA MÁS DIFÍCIL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685800" y="932688"/>
            <a:ext cx="107899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Segoe UI"/>
              </a:rPr>
              <a:t>¿Cómo quita el eco una llamada de verdad?</a:t>
            </a:r>
          </a:p>
        </p:txBody>
      </p:sp>
      <p:sp>
        <p:nvSpPr>
          <p:cNvPr id="6" name="tx"/>
          <p:cNvSpPr txBox="1"/>
          <p:nvPr/>
        </p:nvSpPr>
        <p:spPr>
          <a:xfrm>
            <a:off x="685800" y="2468880"/>
            <a:ext cx="932688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>
                <a:solidFill>
                  <a:srgbClr val="E6EDF3"/>
                </a:solidFill>
                <a:latin typeface="Segoe UI"/>
              </a:rPr>
              <a:t>El eco es el micrófono captando lo que suena en el propio parlante, y devolviéndolo con retraso.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E6EDF3"/>
                </a:solidFill>
                <a:latin typeface="Segoe UI"/>
              </a:rPr>
              <a:t>La solución no está en la aplicación: está en el chip de audio del teléfono, que sí sabe exactamente qué sonó y cuándo.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3FB950"/>
                </a:solidFill>
                <a:latin typeface="Segoe UI"/>
              </a:rPr>
              <a:t>Basta usar el modo llamada de Android — el mismo de WhatsApp — para que ese cancelador trabaje para nosotros. El eco desaparece, y se puede hablar sin turnos.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c"/>
          <p:cNvSpPr/>
          <p:nvPr/>
        </p:nvSpPr>
        <p:spPr>
          <a:xfrm>
            <a:off x="9601200" y="1188719"/>
            <a:ext cx="1463040" cy="1828801"/>
          </a:xfrm>
          <a:custGeom>
            <a:avLst/>
            <a:gdLst/>
            <a:ahLst/>
            <a:cxnLst/>
            <a:rect l="l" t="t" r="r" b="b"/>
            <a:pathLst>
              <a:path w="1463040" h="1828801">
                <a:moveTo>
                  <a:pt x="731520" y="0"/>
                </a:moveTo>
                <a:lnTo>
                  <a:pt x="1463040" y="329184"/>
                </a:lnTo>
                <a:lnTo>
                  <a:pt x="1463040" y="1005841"/>
                </a:lnTo>
                <a:lnTo>
                  <a:pt x="731520" y="1828801"/>
                </a:lnTo>
                <a:lnTo>
                  <a:pt x="0" y="1005841"/>
                </a:lnTo>
                <a:lnTo>
                  <a:pt x="0" y="329184"/>
                </a:lnTo>
                <a:close/>
              </a:path>
            </a:pathLst>
          </a:custGeom>
          <a:noFill/>
          <a:ln w="5715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c"/>
          <p:cNvSpPr/>
          <p:nvPr/>
        </p:nvSpPr>
        <p:spPr>
          <a:xfrm>
            <a:off x="10040112" y="1828799"/>
            <a:ext cx="614476" cy="603505"/>
          </a:xfrm>
          <a:custGeom>
            <a:avLst/>
            <a:gdLst/>
            <a:ahLst/>
            <a:cxnLst/>
            <a:rect l="l" t="t" r="r" b="b"/>
            <a:pathLst>
              <a:path w="614476" h="603505">
                <a:moveTo>
                  <a:pt x="0" y="310897"/>
                </a:moveTo>
                <a:lnTo>
                  <a:pt x="219456" y="603505"/>
                </a:lnTo>
                <a:lnTo>
                  <a:pt x="614476" y="0"/>
                </a:lnTo>
              </a:path>
            </a:pathLst>
          </a:custGeom>
          <a:noFill/>
          <a:ln w="5715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kick"/>
          <p:cNvSpPr txBox="1"/>
          <p:nvPr/>
        </p:nvSpPr>
        <p:spPr>
          <a:xfrm>
            <a:off x="685800" y="4572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8A6FF"/>
                </a:solidFill>
                <a:latin typeface="Segoe UI"/>
              </a:rPr>
              <a:t>PASO 3 · LIMPIAR Y PROTEGER LO QUE LLEGA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85800" y="932688"/>
            <a:ext cx="107899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Segoe UI"/>
              </a:rPr>
              <a:t>Cómo se recupera la voz al otro lado</a:t>
            </a:r>
          </a:p>
        </p:txBody>
      </p:sp>
      <p:sp>
        <p:nvSpPr>
          <p:cNvPr id="7" name="tx"/>
          <p:cNvSpPr txBox="1"/>
          <p:nvPr/>
        </p:nvSpPr>
        <p:spPr>
          <a:xfrm>
            <a:off x="685800" y="2423160"/>
            <a:ext cx="941832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100"/>
              </a:spcAft>
            </a:pPr>
            <a:r>
              <a:rPr sz="1800" b="0">
                <a:solidFill>
                  <a:srgbClr val="E6EDF3"/>
                </a:solidFill>
                <a:latin typeface="Segoe UI"/>
              </a:rPr>
              <a:t>Si se pierde un paquete, se repite el último fragmento bajándole el volumen poco a poco, para que no quede un silencio seco ni un ruido molesto.</a:t>
            </a:r>
          </a:p>
          <a:p>
            <a:pPr algn="l">
              <a:spcAft>
                <a:spcPts val="1100"/>
              </a:spcAft>
            </a:pPr>
            <a:r>
              <a:rPr sz="1800" b="0">
                <a:solidFill>
                  <a:srgbClr val="E6EDF3"/>
                </a:solidFill>
                <a:latin typeface="Segoe UI"/>
              </a:rPr>
              <a:t>Un filtro deja pasar la voz y corta el silbido del ruido de fondo.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E6EDF3"/>
                </a:solidFill>
                <a:latin typeface="Segoe UI"/>
              </a:rPr>
              <a:t>Y un código de corrección: por cada 4 bits de datos se mandan 3 de control; si uno se daña en el camino, el receptor lo arregla sin pedir que lo reenvíen.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c"/>
          <p:cNvSpPr/>
          <p:nvPr/>
        </p:nvSpPr>
        <p:spPr>
          <a:xfrm>
            <a:off x="9481413" y="2276856"/>
            <a:ext cx="295351" cy="694944"/>
          </a:xfrm>
          <a:prstGeom prst="roundRect">
            <a:avLst/>
          </a:prstGeom>
          <a:solidFill>
            <a:srgbClr val="8B94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c"/>
          <p:cNvSpPr/>
          <p:nvPr/>
        </p:nvSpPr>
        <p:spPr>
          <a:xfrm>
            <a:off x="9950500" y="1755648"/>
            <a:ext cx="295351" cy="1216151"/>
          </a:xfrm>
          <a:prstGeom prst="round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c"/>
          <p:cNvSpPr/>
          <p:nvPr/>
        </p:nvSpPr>
        <p:spPr>
          <a:xfrm>
            <a:off x="10419588" y="2016252"/>
            <a:ext cx="295351" cy="955547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c"/>
          <p:cNvSpPr/>
          <p:nvPr/>
        </p:nvSpPr>
        <p:spPr>
          <a:xfrm>
            <a:off x="10888675" y="1234440"/>
            <a:ext cx="295351" cy="1737360"/>
          </a:xfrm>
          <a:prstGeom prst="round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kick"/>
          <p:cNvSpPr txBox="1"/>
          <p:nvPr/>
        </p:nvSpPr>
        <p:spPr>
          <a:xfrm>
            <a:off x="685800" y="4572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8A6FF"/>
                </a:solidFill>
                <a:latin typeface="Segoe UI"/>
              </a:rPr>
              <a:t>LO QUE LA APP CALCULA EN VIVO</a:t>
            </a:r>
          </a:p>
        </p:txBody>
      </p:sp>
      <p:sp>
        <p:nvSpPr>
          <p:cNvPr id="8" name="title"/>
          <p:cNvSpPr txBox="1"/>
          <p:nvPr/>
        </p:nvSpPr>
        <p:spPr>
          <a:xfrm>
            <a:off x="685800" y="932688"/>
            <a:ext cx="107899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Segoe UI"/>
              </a:rPr>
              <a:t>Entropía y capacidad, con el audio real</a:t>
            </a:r>
          </a:p>
        </p:txBody>
      </p:sp>
      <p:sp>
        <p:nvSpPr>
          <p:cNvPr id="9" name="card"/>
          <p:cNvSpPr/>
          <p:nvPr/>
        </p:nvSpPr>
        <p:spPr>
          <a:xfrm>
            <a:off x="685800" y="2377440"/>
            <a:ext cx="5349240" cy="2834640"/>
          </a:xfrm>
          <a:prstGeom prst="roundRect">
            <a:avLst/>
          </a:prstGeom>
          <a:solidFill>
            <a:srgbClr val="161B22"/>
          </a:solidFill>
          <a:ln w="15875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/>
          <a:lstStyle/>
          <a:p>
            <a:pPr algn="ctr"/>
            <a:r>
              <a:rPr sz="1600" b="1">
                <a:solidFill>
                  <a:srgbClr val="58A6FF"/>
                </a:solidFill>
                <a:latin typeface="Segoe UI"/>
              </a:rPr>
              <a:t>Entropía  H(X)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E6EDF3"/>
                </a:solidFill>
                <a:latin typeface="Segoe UI"/>
              </a:rPr>
              <a:t>Cuánta información trae cada muestra, en bits.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E6EDF3"/>
                </a:solidFill>
                <a:latin typeface="Segoe UI"/>
              </a:rPr>
              <a:t>Silencio: casi 0.   Voz: entre 3 y 6.   Ruido: cerca de 8.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E6EDF3"/>
                </a:solidFill>
                <a:latin typeface="Segoe UI"/>
              </a:rPr>
              <a:t>Sube cuando el canal se ensucia: sirve de detector de ruido.</a:t>
            </a:r>
          </a:p>
        </p:txBody>
      </p:sp>
      <p:sp>
        <p:nvSpPr>
          <p:cNvPr id="10" name="card"/>
          <p:cNvSpPr/>
          <p:nvPr/>
        </p:nvSpPr>
        <p:spPr>
          <a:xfrm>
            <a:off x="6217920" y="2377440"/>
            <a:ext cx="5349240" cy="2834640"/>
          </a:xfrm>
          <a:prstGeom prst="roundRect">
            <a:avLst/>
          </a:prstGeom>
          <a:solidFill>
            <a:srgbClr val="161B22"/>
          </a:solidFill>
          <a:ln w="15875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/>
          <a:lstStyle/>
          <a:p>
            <a:pPr algn="ctr"/>
            <a:r>
              <a:rPr sz="1600" b="1">
                <a:solidFill>
                  <a:srgbClr val="3FB950"/>
                </a:solidFill>
                <a:latin typeface="Segoe UI"/>
              </a:rPr>
              <a:t>Capacidad  C = B · log₂(1 + SNR)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E6EDF3"/>
                </a:solidFill>
                <a:latin typeface="Segoe UI"/>
              </a:rPr>
              <a:t>El máximo de datos por segundo que aguanta el canal.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E6EDF3"/>
                </a:solidFill>
                <a:latin typeface="Segoe UI"/>
              </a:rPr>
              <a:t>Ejemplo: 4 000 Hz y señal 1000 veces más fuerte que el ruido → unos 40 kbps.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E6EDF3"/>
                </a:solidFill>
                <a:latin typeface="Segoe UI"/>
              </a:rPr>
              <a:t>El canal real da menos: esa diferencia también es un resultado.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c"/>
          <p:cNvSpPr/>
          <p:nvPr/>
        </p:nvSpPr>
        <p:spPr>
          <a:xfrm>
            <a:off x="5645505" y="1371600"/>
            <a:ext cx="1088136" cy="1280160"/>
          </a:xfrm>
          <a:custGeom>
            <a:avLst/>
            <a:gdLst/>
            <a:ahLst/>
            <a:cxnLst/>
            <a:rect l="l" t="t" r="r" b="b"/>
            <a:pathLst>
              <a:path w="1088136" h="1280160">
                <a:moveTo>
                  <a:pt x="0" y="0"/>
                </a:moveTo>
                <a:lnTo>
                  <a:pt x="1088136" y="640080"/>
                </a:lnTo>
                <a:lnTo>
                  <a:pt x="0" y="1280160"/>
                </a:lnTo>
                <a:close/>
              </a:path>
            </a:pathLst>
          </a:cu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x"/>
          <p:cNvSpPr txBox="1"/>
          <p:nvPr/>
        </p:nvSpPr>
        <p:spPr>
          <a:xfrm>
            <a:off x="685800" y="292608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1">
                <a:solidFill>
                  <a:srgbClr val="E6EDF3"/>
                </a:solidFill>
                <a:latin typeface="Segoe UI"/>
              </a:rPr>
              <a:t>Demostración en vivo</a:t>
            </a:r>
          </a:p>
        </p:txBody>
      </p:sp>
      <p:sp>
        <p:nvSpPr>
          <p:cNvPr id="5" name="tx"/>
          <p:cNvSpPr txBox="1"/>
          <p:nvPr/>
        </p:nvSpPr>
        <p:spPr>
          <a:xfrm>
            <a:off x="1280160" y="4114800"/>
            <a:ext cx="96012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0">
                <a:solidFill>
                  <a:srgbClr val="8B949E"/>
                </a:solidFill>
                <a:latin typeface="Segoe UI"/>
              </a:rPr>
              <a:t>Sin optimizar: se escucha el canal tal cual, con eco.</a:t>
            </a:r>
          </a:p>
          <a:p>
            <a:pPr algn="ctr">
              <a:spcAft>
                <a:spcPts val="600"/>
              </a:spcAft>
            </a:pPr>
            <a:r>
              <a:rPr sz="1700" b="0">
                <a:solidFill>
                  <a:srgbClr val="8B949E"/>
                </a:solidFill>
                <a:latin typeface="Segoe UI"/>
              </a:rPr>
              <a:t>Con el cancelador: el eco desaparece.</a:t>
            </a:r>
          </a:p>
          <a:p>
            <a:pPr algn="ctr">
              <a:spcAft>
                <a:spcPts val="600"/>
              </a:spcAft>
            </a:pPr>
            <a:r>
              <a:rPr sz="1700" b="0">
                <a:solidFill>
                  <a:srgbClr val="8B949E"/>
                </a:solidFill>
                <a:latin typeface="Segoe UI"/>
              </a:rPr>
              <a:t>Canal degradado: aparece el ruido; el filtro lo baja y la corrección arregla los bits, y todo queda en el registro en vivo.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c"/>
          <p:cNvSpPr/>
          <p:nvPr/>
        </p:nvSpPr>
        <p:spPr>
          <a:xfrm>
            <a:off x="9481413" y="2185416"/>
            <a:ext cx="295351" cy="694944"/>
          </a:xfrm>
          <a:prstGeom prst="roundRect">
            <a:avLst/>
          </a:prstGeom>
          <a:solidFill>
            <a:srgbClr val="8B94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c"/>
          <p:cNvSpPr/>
          <p:nvPr/>
        </p:nvSpPr>
        <p:spPr>
          <a:xfrm>
            <a:off x="9950500" y="1664208"/>
            <a:ext cx="295351" cy="1216151"/>
          </a:xfrm>
          <a:prstGeom prst="round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c"/>
          <p:cNvSpPr/>
          <p:nvPr/>
        </p:nvSpPr>
        <p:spPr>
          <a:xfrm>
            <a:off x="10419588" y="1924812"/>
            <a:ext cx="295351" cy="955547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c"/>
          <p:cNvSpPr/>
          <p:nvPr/>
        </p:nvSpPr>
        <p:spPr>
          <a:xfrm>
            <a:off x="10888675" y="1143000"/>
            <a:ext cx="295351" cy="1737360"/>
          </a:xfrm>
          <a:prstGeom prst="round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kick"/>
          <p:cNvSpPr txBox="1"/>
          <p:nvPr/>
        </p:nvSpPr>
        <p:spPr>
          <a:xfrm>
            <a:off x="685800" y="4572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8A6FF"/>
                </a:solidFill>
                <a:latin typeface="Segoe UI"/>
              </a:rPr>
              <a:t>QUÉ TAN BIEN FUNCIONÓ</a:t>
            </a:r>
          </a:p>
        </p:txBody>
      </p:sp>
      <p:sp>
        <p:nvSpPr>
          <p:cNvPr id="8" name="title"/>
          <p:cNvSpPr txBox="1"/>
          <p:nvPr/>
        </p:nvSpPr>
        <p:spPr>
          <a:xfrm>
            <a:off x="685800" y="932688"/>
            <a:ext cx="107899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Segoe UI"/>
              </a:rPr>
              <a:t>Resultados medidos en los teléfonos</a:t>
            </a:r>
          </a:p>
        </p:txBody>
      </p:sp>
      <p:sp>
        <p:nvSpPr>
          <p:cNvPr id="9" name="card"/>
          <p:cNvSpPr/>
          <p:nvPr/>
        </p:nvSpPr>
        <p:spPr>
          <a:xfrm>
            <a:off x="685800" y="2286000"/>
            <a:ext cx="5349240" cy="1554480"/>
          </a:xfrm>
          <a:prstGeom prst="roundRect">
            <a:avLst/>
          </a:prstGeom>
          <a:solidFill>
            <a:srgbClr val="161B22"/>
          </a:solidFill>
          <a:ln w="15875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/>
          <a:lstStyle/>
          <a:p>
            <a:pPr algn="ctr"/>
            <a:r>
              <a:rPr sz="1600" b="1">
                <a:solidFill>
                  <a:srgbClr val="3FB950"/>
                </a:solidFill>
                <a:latin typeface="Segoe UI"/>
              </a:rPr>
              <a:t>Retraso: entre 0,5 y 1 segundo, estable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E6EDF3"/>
                </a:solidFill>
                <a:latin typeface="Segoe UI"/>
              </a:rPr>
              <a:t>Antes crecía sin parar hasta 11 s. Ahora tiene un tope fijo.</a:t>
            </a:r>
          </a:p>
        </p:txBody>
      </p:sp>
      <p:sp>
        <p:nvSpPr>
          <p:cNvPr id="10" name="card"/>
          <p:cNvSpPr/>
          <p:nvPr/>
        </p:nvSpPr>
        <p:spPr>
          <a:xfrm>
            <a:off x="6217920" y="2286000"/>
            <a:ext cx="5349240" cy="1554480"/>
          </a:xfrm>
          <a:prstGeom prst="roundRect">
            <a:avLst/>
          </a:prstGeom>
          <a:solidFill>
            <a:srgbClr val="161B22"/>
          </a:solidFill>
          <a:ln w="15875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/>
          <a:lstStyle/>
          <a:p>
            <a:pPr algn="ctr"/>
            <a:r>
              <a:rPr sz="1600" b="1">
                <a:solidFill>
                  <a:srgbClr val="58A6FF"/>
                </a:solidFill>
                <a:latin typeface="Segoe UI"/>
              </a:rPr>
              <a:t>Pérdida: 0% con buena señal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E6EDF3"/>
                </a:solidFill>
                <a:latin typeface="Segoe UI"/>
              </a:rPr>
              <a:t>Y sabemos por qué: Bluetooth reenvía solo lo dañado. La pérdida aparece al alejarse.</a:t>
            </a:r>
          </a:p>
        </p:txBody>
      </p:sp>
      <p:sp>
        <p:nvSpPr>
          <p:cNvPr id="11" name="card"/>
          <p:cNvSpPr/>
          <p:nvPr/>
        </p:nvSpPr>
        <p:spPr>
          <a:xfrm>
            <a:off x="685800" y="4023360"/>
            <a:ext cx="5349240" cy="1554480"/>
          </a:xfrm>
          <a:prstGeom prst="roundRect">
            <a:avLst/>
          </a:prstGeom>
          <a:solidFill>
            <a:srgbClr val="161B22"/>
          </a:solidFill>
          <a:ln w="15875">
            <a:solidFill>
              <a:srgbClr val="D299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/>
          <a:lstStyle/>
          <a:p>
            <a:pPr algn="ctr"/>
            <a:r>
              <a:rPr sz="1600" b="1">
                <a:solidFill>
                  <a:srgbClr val="D29922"/>
                </a:solidFill>
                <a:latin typeface="Segoe UI"/>
              </a:rPr>
              <a:t>8 kB por segundo, por lado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E6EDF3"/>
                </a:solidFill>
                <a:latin typeface="Segoe UI"/>
              </a:rPr>
              <a:t>4 veces menos que al principio. Y en silencio: nada, gracias al detector de voz.</a:t>
            </a:r>
          </a:p>
        </p:txBody>
      </p:sp>
      <p:sp>
        <p:nvSpPr>
          <p:cNvPr id="12" name="card"/>
          <p:cNvSpPr/>
          <p:nvPr/>
        </p:nvSpPr>
        <p:spPr>
          <a:xfrm>
            <a:off x="6217920" y="4023360"/>
            <a:ext cx="5349240" cy="1554480"/>
          </a:xfrm>
          <a:prstGeom prst="roundRect">
            <a:avLst/>
          </a:prstGeom>
          <a:solidFill>
            <a:srgbClr val="161B22"/>
          </a:solidFill>
          <a:ln w="15875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/>
          <a:lstStyle/>
          <a:p>
            <a:pPr algn="ctr"/>
            <a:r>
              <a:rPr sz="1600" b="1">
                <a:solidFill>
                  <a:srgbClr val="3FB950"/>
                </a:solidFill>
                <a:latin typeface="Segoe UI"/>
              </a:rPr>
              <a:t>Eco: eliminado hablando de corrido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E6EDF3"/>
                </a:solidFill>
                <a:latin typeface="Segoe UI"/>
              </a:rPr>
              <a:t>Usando el cancelador del propio teléfono, como una llamada normal.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c"/>
          <p:cNvSpPr/>
          <p:nvPr/>
        </p:nvSpPr>
        <p:spPr>
          <a:xfrm>
            <a:off x="6099048" y="1097280"/>
            <a:ext cx="221284" cy="1828800"/>
          </a:xfrm>
          <a:custGeom>
            <a:avLst/>
            <a:gdLst/>
            <a:ahLst/>
            <a:cxnLst/>
            <a:rect l="l" t="t" r="r" b="b"/>
            <a:pathLst>
              <a:path w="221284" h="1828800">
                <a:moveTo>
                  <a:pt x="0" y="0"/>
                </a:moveTo>
                <a:lnTo>
                  <a:pt x="221284" y="457200"/>
                </a:lnTo>
                <a:lnTo>
                  <a:pt x="0" y="1828800"/>
                </a:lnTo>
                <a:lnTo>
                  <a:pt x="221284" y="1371600"/>
                </a:lnTo>
                <a:lnTo>
                  <a:pt x="0" y="0"/>
                </a:lnTo>
                <a:lnTo>
                  <a:pt x="0" y="1828800"/>
                </a:lnTo>
              </a:path>
            </a:pathLst>
          </a:custGeom>
          <a:noFill/>
          <a:ln w="635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x"/>
          <p:cNvSpPr txBox="1"/>
          <p:nvPr/>
        </p:nvSpPr>
        <p:spPr>
          <a:xfrm>
            <a:off x="685800" y="3200400"/>
            <a:ext cx="10789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800" b="1">
                <a:solidFill>
                  <a:srgbClr val="E6EDF3"/>
                </a:solidFill>
                <a:latin typeface="Segoe UI"/>
              </a:rPr>
              <a:t>¿Preguntas?</a:t>
            </a:r>
          </a:p>
        </p:txBody>
      </p:sp>
      <p:sp>
        <p:nvSpPr>
          <p:cNvPr id="5" name="tx"/>
          <p:cNvSpPr txBox="1"/>
          <p:nvPr/>
        </p:nvSpPr>
        <p:spPr>
          <a:xfrm>
            <a:off x="685800" y="448056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0">
                <a:solidFill>
                  <a:srgbClr val="8B949E"/>
                </a:solidFill>
                <a:latin typeface="Segoe UI"/>
              </a:rPr>
              <a:t>Oscar Javier Saavedra Montero</a:t>
            </a:r>
          </a:p>
          <a:p>
            <a:pPr algn="ctr">
              <a:spcAft>
                <a:spcPts val="600"/>
              </a:spcAft>
            </a:pPr>
            <a:r>
              <a:rPr sz="1500" b="0">
                <a:solidFill>
                  <a:srgbClr val="58A6FF"/>
                </a:solidFill>
                <a:latin typeface="Segoe UI"/>
              </a:rPr>
              <a:t>github.com/OscarSapiensunal/TeoInfo-Proyect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